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3.svg" ContentType="image/svg+xml"/>
  <Override PartName="/ppt/media/image15.svg" ContentType="image/svg+xml"/>
  <Override PartName="/ppt/media/image17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66" r:id="rId4"/>
    <p:sldId id="257" r:id="rId5"/>
    <p:sldId id="258" r:id="rId7"/>
    <p:sldId id="259" r:id="rId8"/>
    <p:sldId id="260" r:id="rId9"/>
    <p:sldId id="261" r:id="rId10"/>
    <p:sldId id="264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4630400" cy="8229600"/>
  <p:notesSz cx="8229600" cy="14630400"/>
  <p:embeddedFontLst>
    <p:embeddedFont>
      <p:font typeface="黑体" panose="02010609060101010101" charset="-122"/>
      <p:regular r:id="rId23"/>
    </p:embeddedFont>
    <p:embeddedFont>
      <p:font typeface="Brygada 1918 Semi Bold" pitchFamily="34" charset="0"/>
      <p:regular r:id="rId24"/>
    </p:embeddedFont>
    <p:embeddedFont>
      <p:font typeface="Brygada 1918 Semi Bold" pitchFamily="34" charset="-122"/>
      <p:regular r:id="rId25"/>
    </p:embeddedFont>
    <p:embeddedFont>
      <p:font typeface="Brygada 1918 Semi Bold" pitchFamily="34" charset="-120"/>
      <p:regular r:id="rId26"/>
    </p:embeddedFont>
    <p:embeddedFont>
      <p:font typeface="Consolas" panose="020B0609020204030204" pitchFamily="34" charset="0"/>
      <p:regular r:id="rId27"/>
      <p:bold r:id="rId28"/>
      <p:italic r:id="rId29"/>
      <p:boldItalic r:id="rId30"/>
    </p:embeddedFont>
    <p:embeddedFont>
      <p:font typeface="Consolas" panose="020B0609020204030204" pitchFamily="34" charset="-122"/>
      <p:regular r:id="rId31"/>
    </p:embeddedFont>
    <p:embeddedFont>
      <p:font typeface="Consolas" panose="020B0609020204030204" pitchFamily="34" charset="-120"/>
      <p:regular r:id="rId32"/>
    </p:embeddedFont>
    <p:embeddedFont>
      <p:font typeface="Brygada 1918" pitchFamily="34" charset="0"/>
      <p:bold r:id="rId33"/>
    </p:embeddedFont>
    <p:embeddedFont>
      <p:font typeface="Brygada 1918" pitchFamily="34" charset="-122"/>
      <p:bold r:id="rId34"/>
    </p:embeddedFont>
    <p:embeddedFont>
      <p:font typeface="Brygada 1918" pitchFamily="34" charset="-120"/>
      <p:bold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  <p:embeddedFont>
      <p:font typeface="Calibri Light" panose="020F0302020204030204" charset="0"/>
      <p:regular r:id="rId40"/>
      <p:italic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1" Type="http://schemas.openxmlformats.org/officeDocument/2006/relationships/font" Target="fonts/font19.fntdata"/><Relationship Id="rId40" Type="http://schemas.openxmlformats.org/officeDocument/2006/relationships/font" Target="fonts/font18.fntdata"/><Relationship Id="rId4" Type="http://schemas.openxmlformats.org/officeDocument/2006/relationships/slide" Target="slides/slide1.xml"/><Relationship Id="rId39" Type="http://schemas.openxmlformats.org/officeDocument/2006/relationships/font" Target="fonts/font17.fntdata"/><Relationship Id="rId38" Type="http://schemas.openxmlformats.org/officeDocument/2006/relationships/font" Target="fonts/font16.fntdata"/><Relationship Id="rId37" Type="http://schemas.openxmlformats.org/officeDocument/2006/relationships/font" Target="fonts/font15.fntdata"/><Relationship Id="rId36" Type="http://schemas.openxmlformats.org/officeDocument/2006/relationships/font" Target="fonts/font14.fntdata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3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image" Target="../media/image33.svg"/><Relationship Id="rId45" Type="http://schemas.openxmlformats.org/officeDocument/2006/relationships/notesSlide" Target="../notesSlides/notesSlide12.xml"/><Relationship Id="rId44" Type="http://schemas.openxmlformats.org/officeDocument/2006/relationships/slideLayout" Target="../slideLayouts/slideLayout2.xml"/><Relationship Id="rId43" Type="http://schemas.openxmlformats.org/officeDocument/2006/relationships/image" Target="../media/image3.png"/><Relationship Id="rId42" Type="http://schemas.openxmlformats.org/officeDocument/2006/relationships/tags" Target="../tags/tag55.xml"/><Relationship Id="rId41" Type="http://schemas.openxmlformats.org/officeDocument/2006/relationships/tags" Target="../tags/tag54.xml"/><Relationship Id="rId40" Type="http://schemas.openxmlformats.org/officeDocument/2006/relationships/image" Target="../media/image43.svg"/><Relationship Id="rId4" Type="http://schemas.openxmlformats.org/officeDocument/2006/relationships/image" Target="../media/image32.png"/><Relationship Id="rId39" Type="http://schemas.openxmlformats.org/officeDocument/2006/relationships/image" Target="../media/image42.png"/><Relationship Id="rId38" Type="http://schemas.openxmlformats.org/officeDocument/2006/relationships/tags" Target="../tags/tag53.xml"/><Relationship Id="rId37" Type="http://schemas.openxmlformats.org/officeDocument/2006/relationships/tags" Target="../tags/tag52.xml"/><Relationship Id="rId36" Type="http://schemas.openxmlformats.org/officeDocument/2006/relationships/tags" Target="../tags/tag51.xml"/><Relationship Id="rId35" Type="http://schemas.openxmlformats.org/officeDocument/2006/relationships/tags" Target="../tags/tag50.xml"/><Relationship Id="rId34" Type="http://schemas.openxmlformats.org/officeDocument/2006/relationships/tags" Target="../tags/tag49.xml"/><Relationship Id="rId33" Type="http://schemas.openxmlformats.org/officeDocument/2006/relationships/image" Target="../media/image41.svg"/><Relationship Id="rId32" Type="http://schemas.openxmlformats.org/officeDocument/2006/relationships/image" Target="../media/image40.png"/><Relationship Id="rId31" Type="http://schemas.openxmlformats.org/officeDocument/2006/relationships/tags" Target="../tags/tag48.xml"/><Relationship Id="rId30" Type="http://schemas.openxmlformats.org/officeDocument/2006/relationships/tags" Target="../tags/tag47.xml"/><Relationship Id="rId3" Type="http://schemas.openxmlformats.org/officeDocument/2006/relationships/tags" Target="../tags/tag28.xml"/><Relationship Id="rId29" Type="http://schemas.openxmlformats.org/officeDocument/2006/relationships/tags" Target="../tags/tag46.xml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image" Target="../media/image39.svg"/><Relationship Id="rId25" Type="http://schemas.openxmlformats.org/officeDocument/2006/relationships/image" Target="../media/image38.png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7.xml"/><Relationship Id="rId19" Type="http://schemas.openxmlformats.org/officeDocument/2006/relationships/image" Target="../media/image37.svg"/><Relationship Id="rId18" Type="http://schemas.openxmlformats.org/officeDocument/2006/relationships/image" Target="../media/image36.png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image" Target="../media/image35.svg"/><Relationship Id="rId11" Type="http://schemas.openxmlformats.org/officeDocument/2006/relationships/image" Target="../media/image34.png"/><Relationship Id="rId10" Type="http://schemas.openxmlformats.org/officeDocument/2006/relationships/tags" Target="../tags/tag33.xml"/><Relationship Id="rId1" Type="http://schemas.openxmlformats.org/officeDocument/2006/relationships/tags" Target="../tags/tag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4745970" cy="8230235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10490" y="-247015"/>
            <a:ext cx="14519910" cy="8189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0850" algn="l" rtl="0" eaLnBrk="0">
              <a:lnSpc>
                <a:spcPct val="92000"/>
              </a:lnSpc>
            </a:pPr>
            <a:r>
              <a:rPr lang="en-US" sz="5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</a:t>
            </a:r>
            <a:endParaRPr lang="en-US" sz="5800" b="1" kern="0" spc="0" dirty="0">
              <a:solidFill>
                <a:srgbClr val="00000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50850" algn="ctr" rtl="0" eaLnBrk="0">
              <a:lnSpc>
                <a:spcPct val="92000"/>
              </a:lnSpc>
            </a:pPr>
            <a:r>
              <a:rPr sz="5800" b="1" kern="0" spc="0" dirty="0">
                <a:solidFill>
                  <a:schemeClr val="accent6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StrawValley</a:t>
            </a:r>
            <a:r>
              <a:rPr lang="en-US" sz="5800" b="1" kern="0" spc="0" dirty="0">
                <a:solidFill>
                  <a:schemeClr val="accent6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zh-CN" sz="5800" b="1" kern="0" spc="-440" dirty="0">
                <a:solidFill>
                  <a:schemeClr val="accent6">
                    <a:alpha val="10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程序设计</a:t>
            </a:r>
            <a:r>
              <a:rPr sz="5800" b="1" kern="0" spc="0" dirty="0">
                <a:solidFill>
                  <a:schemeClr val="accent6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</a:t>
            </a:r>
            <a:r>
              <a:rPr lang="zh-CN" sz="5800" b="1" kern="0" spc="0" dirty="0">
                <a:solidFill>
                  <a:schemeClr val="accent6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</a:t>
            </a:r>
            <a:endParaRPr lang="zh-CN" sz="5800" b="1" kern="0" spc="0" dirty="0">
              <a:solidFill>
                <a:schemeClr val="accent6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0850" algn="ctr" rtl="0" eaLnBrk="0">
              <a:lnSpc>
                <a:spcPct val="92000"/>
              </a:lnSpc>
            </a:pPr>
            <a:r>
              <a:rPr sz="2800" b="1" kern="0" spc="150" dirty="0">
                <a:solidFill>
                  <a:schemeClr val="accent6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sz="2800" b="1" kern="0" spc="0" dirty="0">
                <a:solidFill>
                  <a:schemeClr val="accent6">
                    <a:alpha val="10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Cocos</a:t>
            </a:r>
            <a:r>
              <a:rPr sz="2800" b="1" kern="0" spc="150" dirty="0">
                <a:solidFill>
                  <a:schemeClr val="accent6">
                    <a:alpha val="10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2d-x</a:t>
            </a:r>
            <a:r>
              <a:rPr sz="2800" b="1" kern="0" spc="150" dirty="0">
                <a:solidFill>
                  <a:schemeClr val="accent6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打造的高自</a:t>
            </a:r>
            <a:r>
              <a:rPr sz="2800" b="1" kern="0" spc="140" dirty="0">
                <a:solidFill>
                  <a:schemeClr val="accent6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由度农场模拟经营游戏</a:t>
            </a:r>
            <a:endParaRPr sz="2800" dirty="0">
              <a:solidFill>
                <a:schemeClr val="accent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r>
              <a:rPr sz="18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汇报小组：第58小组|</a:t>
            </a:r>
            <a:r>
              <a:rPr sz="1800" kern="0" spc="-4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8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日期：2025年12月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0000"/>
              </a:lnSpc>
              <a:spcBef>
                <a:spcPts val="10"/>
              </a:spcBef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1561" t="9953" b="10420"/>
          <a:stretch>
            <a:fillRect/>
          </a:stretch>
        </p:blipFill>
        <p:spPr>
          <a:xfrm>
            <a:off x="12783820" y="7579995"/>
            <a:ext cx="1962150" cy="650240"/>
          </a:xfrm>
          <a:prstGeom prst="rect">
            <a:avLst/>
          </a:prstGeom>
        </p:spPr>
      </p:pic>
      <p:pic>
        <p:nvPicPr>
          <p:cNvPr id="5" name="图片 4" descr="17671102967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573655"/>
            <a:ext cx="13060045" cy="48558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1344" y="521494"/>
            <a:ext cx="4537948" cy="450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GameScene：游戏主控制器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991344" y="1029891"/>
            <a:ext cx="3341727" cy="3605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核心场景类：</a:t>
            </a:r>
            <a:r>
              <a:rPr lang="en-US" sz="2250" dirty="0">
                <a:solidFill>
                  <a:srgbClr val="626C3B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GameScene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991344" y="1606748"/>
            <a:ext cx="8134112" cy="2384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继承自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cocos2d::Scene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，负责协调游戏内各个系统的运作与状态流转</a:t>
            </a:r>
            <a:endParaRPr lang="en-US" b="1" dirty="0"/>
          </a:p>
        </p:txBody>
      </p:sp>
      <p:sp>
        <p:nvSpPr>
          <p:cNvPr id="6" name="Shape 3"/>
          <p:cNvSpPr/>
          <p:nvPr/>
        </p:nvSpPr>
        <p:spPr>
          <a:xfrm>
            <a:off x="5991344" y="2007513"/>
            <a:ext cx="324564" cy="324564"/>
          </a:xfrm>
          <a:prstGeom prst="roundRect">
            <a:avLst>
              <a:gd name="adj" fmla="val 66677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45458" y="2034540"/>
            <a:ext cx="216337" cy="270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60093" y="2057043"/>
            <a:ext cx="1803321" cy="225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组件组合（组合模式）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60093" y="2444710"/>
            <a:ext cx="7665363" cy="2755702"/>
          </a:xfrm>
          <a:prstGeom prst="roundRect">
            <a:avLst>
              <a:gd name="adj" fmla="val 7853"/>
            </a:avLst>
          </a:prstGeom>
          <a:solidFill>
            <a:srgbClr val="E9DEC7"/>
          </a:solidFill>
        </p:spPr>
      </p:sp>
      <p:sp>
        <p:nvSpPr>
          <p:cNvPr id="10" name="Shape 7"/>
          <p:cNvSpPr/>
          <p:nvPr/>
        </p:nvSpPr>
        <p:spPr>
          <a:xfrm>
            <a:off x="6452949" y="2444710"/>
            <a:ext cx="7679650" cy="2755702"/>
          </a:xfrm>
          <a:prstGeom prst="roundRect">
            <a:avLst>
              <a:gd name="adj" fmla="val 785"/>
            </a:avLst>
          </a:prstGeom>
          <a:solidFill>
            <a:srgbClr val="E9DEC7"/>
          </a:solidFill>
        </p:spPr>
      </p:sp>
      <p:sp>
        <p:nvSpPr>
          <p:cNvPr id="11" name="Text 8"/>
          <p:cNvSpPr/>
          <p:nvPr/>
        </p:nvSpPr>
        <p:spPr>
          <a:xfrm>
            <a:off x="6597134" y="2552819"/>
            <a:ext cx="7391281" cy="25394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GameScene : public cocos2d::Scene {
private:
  MapLayer* mapLayer_;       // 地图
  Player* player_;           // 玩家
  FarmManager* farmManager_; // 农田管理
  InventoryManager* inventory_; // 背包（单例）
  WeatherManager* weatherManager_; // 天气
  MarketUI* marketUI_;       // 交易UI
  SkillTreeUI* skillUI_;     // 技能UI
};
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91344" y="5488900"/>
            <a:ext cx="324564" cy="324564"/>
          </a:xfrm>
          <a:prstGeom prst="roundRect">
            <a:avLst>
              <a:gd name="adj" fmla="val 66677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45458" y="5515928"/>
            <a:ext cx="216337" cy="270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400" dirty="0">
              <a:solidFill>
                <a:srgbClr val="FFFFFF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60093" y="5538430"/>
            <a:ext cx="1803321" cy="225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职责与设计亮点</a:t>
            </a:r>
            <a:endParaRPr lang="en-US" sz="200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60093" y="5850374"/>
            <a:ext cx="7665363" cy="23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协调各系统运作，如农田、背包、天气等。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24838" y="6131719"/>
            <a:ext cx="7665363" cy="23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457200" algn="l">
              <a:lnSpc>
                <a:spcPts val="1800"/>
              </a:lnSpc>
              <a:buSzPct val="100000"/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处理场景切换逻辑（农场 </a:t>
            </a: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↔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矿洞 </a:t>
            </a: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↔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海滩）。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60093" y="6413063"/>
            <a:ext cx="7665363" cy="23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管理 NPC 交互状态机，确保对话与行为的流畅。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60093" y="6694408"/>
            <a:ext cx="7665363" cy="23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驱动时间、天气、UI 更新，保持游戏世界的动态性。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167993" y="6992303"/>
            <a:ext cx="7665363" cy="620435"/>
          </a:xfrm>
          <a:prstGeom prst="roundRect">
            <a:avLst>
              <a:gd name="adj" fmla="val 34880"/>
            </a:avLst>
          </a:prstGeom>
          <a:solidFill>
            <a:srgbClr val="DFE4CE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58" y="7136408"/>
            <a:ext cx="180261" cy="14418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586458" y="7183239"/>
            <a:ext cx="7052548" cy="2384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设计亮点：</a:t>
            </a:r>
            <a:r>
              <a:rPr lang="en-US" sz="1600" dirty="0">
                <a:solidFill>
                  <a:srgbClr val="000000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仅负责协调，不包含具体业务逻辑，实现了高内聚低耦合。</a:t>
            </a:r>
            <a:endParaRPr lang="en-US" sz="1600" dirty="0">
              <a:solidFill>
                <a:srgbClr val="000000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l="1561" t="9953" b="10420"/>
          <a:stretch>
            <a:fillRect/>
          </a:stretch>
        </p:blipFill>
        <p:spPr>
          <a:xfrm>
            <a:off x="12846050" y="7680325"/>
            <a:ext cx="1656715" cy="54927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460093" y="6694408"/>
            <a:ext cx="7665363" cy="23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驱动时间、天气、UI 更新，保持游戏世界的动态性。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7785"/>
            <a:ext cx="576072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1244" y="223441"/>
            <a:ext cx="3995618" cy="385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Player：角色控制与状态管理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31244" y="728385"/>
            <a:ext cx="2464713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玩家类：</a:t>
            </a:r>
            <a:r>
              <a:rPr lang="en-US" sz="2400" dirty="0">
                <a:solidFill>
                  <a:srgbClr val="83792E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Player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33680" y="1156335"/>
            <a:ext cx="8052435" cy="1974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类继承自 </a:t>
            </a: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cocos2d::Sprite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，集中管理玩家的角色状态、动作、属性及与游戏世界的互动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通过精心设计的状态机，确保了复杂行为的有序切换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31244" y="1713786"/>
            <a:ext cx="8281511" cy="4144685"/>
          </a:xfrm>
          <a:prstGeom prst="roundRect">
            <a:avLst>
              <a:gd name="adj" fmla="val 4460"/>
            </a:avLst>
          </a:prstGeom>
          <a:solidFill>
            <a:srgbClr val="F6EBD4"/>
          </a:solidFill>
          <a:ln w="15240">
            <a:solidFill>
              <a:srgbClr val="626C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9714" y="1852255"/>
            <a:ext cx="1540431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状态机设计</a:t>
            </a:r>
            <a:endParaRPr lang="en-US" sz="1600" b="1" dirty="0"/>
          </a:p>
        </p:txBody>
      </p:sp>
      <p:sp>
        <p:nvSpPr>
          <p:cNvPr id="8" name="Shape 5"/>
          <p:cNvSpPr/>
          <p:nvPr/>
        </p:nvSpPr>
        <p:spPr>
          <a:xfrm>
            <a:off x="569714" y="2183368"/>
            <a:ext cx="8004572" cy="3536633"/>
          </a:xfrm>
          <a:prstGeom prst="roundRect">
            <a:avLst>
              <a:gd name="adj" fmla="val 5227"/>
            </a:avLst>
          </a:prstGeom>
          <a:solidFill>
            <a:srgbClr val="E9DEC7"/>
          </a:solidFill>
        </p:spPr>
      </p:sp>
      <p:sp>
        <p:nvSpPr>
          <p:cNvPr id="9" name="Shape 6"/>
          <p:cNvSpPr/>
          <p:nvPr/>
        </p:nvSpPr>
        <p:spPr>
          <a:xfrm>
            <a:off x="563642" y="2183368"/>
            <a:ext cx="8016716" cy="3536633"/>
          </a:xfrm>
          <a:prstGeom prst="roundRect">
            <a:avLst>
              <a:gd name="adj" fmla="val 523"/>
            </a:avLst>
          </a:prstGeom>
          <a:solidFill>
            <a:srgbClr val="E9DEC7"/>
          </a:solidFill>
        </p:spPr>
      </p:sp>
      <p:sp>
        <p:nvSpPr>
          <p:cNvPr id="10" name="Text 7"/>
          <p:cNvSpPr/>
          <p:nvPr/>
        </p:nvSpPr>
        <p:spPr>
          <a:xfrm>
            <a:off x="686872" y="2275761"/>
            <a:ext cx="7770257" cy="33518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 class PlayerState {
  IDLE, WALK_UP, WALK_DOWN, WALK_LEFT, WALK_RIGHT,
  ATTACK, HURT
};
class Player : public cocos2d::Sprite {
private:
  PlayerState currentState_;       // 当前状态
  cocos2d::Animation* walkUpAnimation_; // 动画资源
  cocos2d::Animation* useAxeUpAnimation_;
  cocos2d::Animation* useHoeUpAnimation_;
  int hp_, maxHp_;                 // 生命值
  float currentEnergy_, maxEnergy_; // 能量系统
  float moveSpeed_;                // 移动速度
  MapLayer* mapLayer_;             // 碰撞检测
  FarmManager* farmManager_;       // 农田操作
};
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1244" y="5981700"/>
            <a:ext cx="8281511" cy="1461373"/>
          </a:xfrm>
          <a:prstGeom prst="roundRect">
            <a:avLst>
              <a:gd name="adj" fmla="val 12650"/>
            </a:avLst>
          </a:prstGeom>
          <a:solidFill>
            <a:srgbClr val="F6EBD4"/>
          </a:solidFill>
          <a:ln w="15240">
            <a:solidFill>
              <a:srgbClr val="837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9714" y="6120170"/>
            <a:ext cx="1540431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核心功能</a:t>
            </a:r>
            <a:endParaRPr lang="en-US" sz="16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69714" y="6386632"/>
            <a:ext cx="8004572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精细的移动控制与碰撞检测。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69714" y="6626900"/>
            <a:ext cx="8004572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基于状态机的动画切换，确保角色动作流畅自然</a:t>
            </a: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。</a:t>
            </a:r>
            <a:endParaRPr lang="en-US" sz="12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69714" y="6867168"/>
            <a:ext cx="8004572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完整的战斗系统，包括攻击判定与受击反馈。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69714" y="7107436"/>
            <a:ext cx="8004572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创新的能量管理，支持工具使用与农田操作消耗。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31244" y="7581662"/>
            <a:ext cx="8281511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类通过依赖注入 (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MapLayer*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FarmManager*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) 获取外部环境信息，实现角色与场景的解耦交互。</a:t>
            </a: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54210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管理器类（一）：农田与背包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223480" y="1163042"/>
            <a:ext cx="2882979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FarmManager：农田管理器</a:t>
            </a:r>
            <a:endParaRPr lang="en-US" sz="2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9838690" y="1109980"/>
            <a:ext cx="3816350" cy="2347595"/>
          </a:xfrm>
          <a:prstGeom prst="roundRect">
            <a:avLst>
              <a:gd name="adj" fmla="val 7247"/>
            </a:avLst>
          </a:prstGeom>
          <a:solidFill>
            <a:srgbClr val="E9DEC7"/>
          </a:solidFill>
        </p:spPr>
      </p:sp>
      <p:sp>
        <p:nvSpPr>
          <p:cNvPr id="7" name="Shape 3"/>
          <p:cNvSpPr/>
          <p:nvPr/>
        </p:nvSpPr>
        <p:spPr>
          <a:xfrm>
            <a:off x="9832975" y="1109980"/>
            <a:ext cx="3799205" cy="2347595"/>
          </a:xfrm>
          <a:prstGeom prst="roundRect">
            <a:avLst>
              <a:gd name="adj" fmla="val 725"/>
            </a:avLst>
          </a:prstGeom>
          <a:solidFill>
            <a:srgbClr val="E9DEC7"/>
          </a:solidFill>
        </p:spPr>
      </p:sp>
      <p:sp>
        <p:nvSpPr>
          <p:cNvPr id="8" name="Text 4"/>
          <p:cNvSpPr/>
          <p:nvPr/>
        </p:nvSpPr>
        <p:spPr>
          <a:xfrm>
            <a:off x="9946640" y="1195070"/>
            <a:ext cx="3548380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FarmTile {
  bool tilled, watered, hasCrop;
  int cropId, stage, progressDays;
};
class FarmManager : public cocos2d::Node {
  std::vector tiles_; // 地图大小的瓦片数组
  ActionResult tillTile(const Vec2&amp; coord);
  ActionResult plantSeed(const Vec2&amp; coord, int cropId);
  ActionResult waterTile(const Vec2&amp; coord);
  ActionResult harvestTile(const Vec2&amp; coord);
};
</a:t>
            </a:r>
            <a:endParaRPr lang="en-US" sz="1000" b="1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23520" y="1943735"/>
            <a:ext cx="13836650" cy="7848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管理农田的所有状态与操作</a:t>
            </a:r>
            <a:r>
              <a:rPr lang="zh-CN" altLang="en-US" b="1" dirty="0">
                <a:solidFill>
                  <a:srgbClr val="403011"/>
                </a:solidFill>
                <a:latin typeface="Brygada 1918" pitchFamily="34" charset="0"/>
                <a:ea typeface="宋体" panose="02010600030101010101" pitchFamily="2" charset="-122"/>
                <a:cs typeface="Brygada 1918" pitchFamily="34" charset="-120"/>
              </a:rPr>
              <a:t>：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包括耕地、播种、浇水和收获</a:t>
            </a: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维护一个与地图大小对应的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FarmTile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结构数组，精确追踪每个瓦片的农作物生长进度与状态</a:t>
            </a:r>
            <a:endParaRPr lang="en-US" b="1" dirty="0"/>
          </a:p>
        </p:txBody>
      </p:sp>
      <p:sp>
        <p:nvSpPr>
          <p:cNvPr id="10" name="Shape 6"/>
          <p:cNvSpPr/>
          <p:nvPr/>
        </p:nvSpPr>
        <p:spPr>
          <a:xfrm>
            <a:off x="344765" y="3633566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11" name="Text 7"/>
          <p:cNvSpPr/>
          <p:nvPr/>
        </p:nvSpPr>
        <p:spPr>
          <a:xfrm>
            <a:off x="223480" y="3916164"/>
            <a:ext cx="3368516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InventoryManager：背包管理器</a:t>
            </a:r>
            <a:endParaRPr lang="en-US" sz="2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838690" y="4512310"/>
            <a:ext cx="3351530" cy="2529205"/>
          </a:xfrm>
          <a:prstGeom prst="roundRect">
            <a:avLst>
              <a:gd name="adj" fmla="val 6727"/>
            </a:avLst>
          </a:prstGeom>
          <a:solidFill>
            <a:srgbClr val="E9DEC7"/>
          </a:solidFill>
        </p:spPr>
      </p:sp>
      <p:sp>
        <p:nvSpPr>
          <p:cNvPr id="13" name="Shape 9"/>
          <p:cNvSpPr/>
          <p:nvPr/>
        </p:nvSpPr>
        <p:spPr>
          <a:xfrm>
            <a:off x="9832975" y="4512310"/>
            <a:ext cx="3355340" cy="2627630"/>
          </a:xfrm>
          <a:prstGeom prst="roundRect">
            <a:avLst>
              <a:gd name="adj" fmla="val 673"/>
            </a:avLst>
          </a:prstGeom>
          <a:solidFill>
            <a:srgbClr val="E9DEC7"/>
          </a:solidFill>
        </p:spPr>
      </p:sp>
      <p:sp>
        <p:nvSpPr>
          <p:cNvPr id="14" name="Text 10"/>
          <p:cNvSpPr/>
          <p:nvPr/>
        </p:nvSpPr>
        <p:spPr>
          <a:xfrm>
            <a:off x="9946640" y="4597400"/>
            <a:ext cx="2966720" cy="2359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ItemSlot {
  ItemType type;
  int count; // 可堆叠（最多99）
  int durability, maxDurability; // 工具耐久度
};
class InventoryManager : public cocos2d::Node {
  std::vector slots_; // 30格背包
  int money_; // 金币
  bool addItem(ItemType type, int count);
  bool removeItem(ItemType type, int count);
  void swapSlots(int idx1, int idx2);
};
</a:t>
            </a:r>
            <a:endParaRPr lang="en-US" sz="1000" b="1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23520" y="4822190"/>
            <a:ext cx="13836650" cy="8242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InventoryManager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管理玩家的背包物品和金币</a:t>
            </a: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通过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ItemSlot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结构，支持物品堆叠和工具耐久度系统</a:t>
            </a: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其核心功能包括物品的增删、金币管</a:t>
            </a:r>
            <a:r>
              <a:rPr lang="zh-CN" alt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理</a:t>
            </a:r>
            <a:endParaRPr lang="zh-CN" alt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zh-CN" alt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背包格子的交换操作，确保了背包系统的灵活性和可玩性。</a:t>
            </a:r>
            <a:endParaRPr lang="en-US" b="1" dirty="0"/>
          </a:p>
        </p:txBody>
      </p:sp>
      <p:sp>
        <p:nvSpPr>
          <p:cNvPr id="16" name="Shape 12"/>
          <p:cNvSpPr/>
          <p:nvPr/>
        </p:nvSpPr>
        <p:spPr>
          <a:xfrm>
            <a:off x="223520" y="7124700"/>
            <a:ext cx="9542780" cy="481965"/>
          </a:xfrm>
          <a:prstGeom prst="roundRect">
            <a:avLst>
              <a:gd name="adj" fmla="val 35306"/>
            </a:avLst>
          </a:prstGeom>
          <a:solidFill>
            <a:srgbClr val="DFE4CE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38" y="7175619"/>
            <a:ext cx="141684" cy="1133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6140" y="7289403"/>
            <a:ext cx="13355002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ItemType 枚举</a:t>
            </a:r>
            <a:r>
              <a:rPr lang="en-US" sz="14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：工具 (6种)、种子 (6种)、作物 (6种)、矿物 (5种)、武器 (4种)、鱼类 (9种)。</a:t>
            </a:r>
            <a:endParaRPr lang="en-US" sz="1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54210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管理器类（二）：时间与存档</a:t>
            </a:r>
            <a:endParaRPr lang="en-US" sz="28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5" name="Text 1"/>
          <p:cNvSpPr/>
          <p:nvPr>
            <p:custDataLst>
              <p:tags r:id="rId1"/>
            </p:custDataLst>
          </p:nvPr>
        </p:nvSpPr>
        <p:spPr>
          <a:xfrm>
            <a:off x="232370" y="866140"/>
            <a:ext cx="4217789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TimeManager：时间管理器（单例模式）</a:t>
            </a:r>
            <a:endParaRPr lang="en-US" sz="2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6" name="Shape 2"/>
          <p:cNvSpPr/>
          <p:nvPr>
            <p:custDataLst>
              <p:tags r:id="rId2"/>
            </p:custDataLst>
          </p:nvPr>
        </p:nvSpPr>
        <p:spPr>
          <a:xfrm>
            <a:off x="10226675" y="994410"/>
            <a:ext cx="3485515" cy="2347595"/>
          </a:xfrm>
          <a:prstGeom prst="roundRect">
            <a:avLst>
              <a:gd name="adj" fmla="val 7247"/>
            </a:avLst>
          </a:prstGeom>
          <a:solidFill>
            <a:srgbClr val="E9DEC7"/>
          </a:solidFill>
        </p:spPr>
      </p:sp>
      <p:sp>
        <p:nvSpPr>
          <p:cNvPr id="7" name="Shape 3"/>
          <p:cNvSpPr/>
          <p:nvPr>
            <p:custDataLst>
              <p:tags r:id="rId3"/>
            </p:custDataLst>
          </p:nvPr>
        </p:nvSpPr>
        <p:spPr>
          <a:xfrm>
            <a:off x="10220960" y="994410"/>
            <a:ext cx="3463925" cy="2347595"/>
          </a:xfrm>
          <a:prstGeom prst="roundRect">
            <a:avLst>
              <a:gd name="adj" fmla="val 725"/>
            </a:avLst>
          </a:prstGeom>
          <a:solidFill>
            <a:srgbClr val="E9DEC7"/>
          </a:solidFill>
        </p:spPr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10334625" y="1079500"/>
            <a:ext cx="3175000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TimeManager {
private:
  float dayTimer_;      // 当天已过时间
  int dayCount_;        // 天数计数
  const float SECONDS_PER_DAY = 300.0f; // 5分钟=1天
public:
  static TimeManager* getInstance();
  int getHour() const;  // 6-23时
  int getDay() const;
  void advanceToNextDay();
};
</a:t>
            </a:r>
            <a:endParaRPr lang="en-US" sz="850" b="1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288885" y="1518761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TimeManager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作为单例模式的核心应用，确保游戏内时间的唯一性和全局可访问性</a:t>
            </a: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它精确控制时间的流逝，模拟昼夜循环与季节更替</a:t>
            </a: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并通过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advanceToNextDay()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驱动游戏世界的日更事件</a:t>
            </a:r>
            <a:endParaRPr lang="en-US" b="1" dirty="0"/>
          </a:p>
        </p:txBody>
      </p:sp>
      <p:sp>
        <p:nvSpPr>
          <p:cNvPr id="10" name="Shape 6"/>
          <p:cNvSpPr/>
          <p:nvPr>
            <p:custDataLst>
              <p:tags r:id="rId6"/>
            </p:custDataLst>
          </p:nvPr>
        </p:nvSpPr>
        <p:spPr>
          <a:xfrm>
            <a:off x="288885" y="3440804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  <p:txBody>
          <a:bodyPr/>
          <a:p>
            <a:endParaRPr lang="zh-CN" altLang="en-US" b="1"/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283170" y="3646567"/>
            <a:ext cx="4167188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SaveManager：存档管理器（单例模式）</a:t>
            </a:r>
            <a:endParaRPr lang="en-US" sz="2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2" name="Shape 8"/>
          <p:cNvSpPr/>
          <p:nvPr>
            <p:custDataLst>
              <p:tags r:id="rId8"/>
            </p:custDataLst>
          </p:nvPr>
        </p:nvSpPr>
        <p:spPr>
          <a:xfrm>
            <a:off x="10226675" y="4497070"/>
            <a:ext cx="3515995" cy="2529205"/>
          </a:xfrm>
          <a:prstGeom prst="roundRect">
            <a:avLst>
              <a:gd name="adj" fmla="val 6727"/>
            </a:avLst>
          </a:prstGeom>
          <a:solidFill>
            <a:srgbClr val="E9DEC7"/>
          </a:solidFill>
        </p:spPr>
      </p:sp>
      <p:sp>
        <p:nvSpPr>
          <p:cNvPr id="13" name="Shape 9"/>
          <p:cNvSpPr/>
          <p:nvPr>
            <p:custDataLst>
              <p:tags r:id="rId9"/>
            </p:custDataLst>
          </p:nvPr>
        </p:nvSpPr>
        <p:spPr>
          <a:xfrm>
            <a:off x="10220960" y="4497070"/>
            <a:ext cx="3549015" cy="2529205"/>
          </a:xfrm>
          <a:prstGeom prst="roundRect">
            <a:avLst>
              <a:gd name="adj" fmla="val 673"/>
            </a:avLst>
          </a:prstGeom>
          <a:solidFill>
            <a:srgbClr val="E9DEC7"/>
          </a:solidFill>
        </p:spPr>
      </p:sp>
      <p:sp>
        <p:nvSpPr>
          <p:cNvPr id="14" name="Text 10"/>
          <p:cNvSpPr/>
          <p:nvPr>
            <p:custDataLst>
              <p:tags r:id="rId10"/>
            </p:custDataLst>
          </p:nvPr>
        </p:nvSpPr>
        <p:spPr>
          <a:xfrm>
            <a:off x="10334625" y="4582160"/>
            <a:ext cx="3221355" cy="2359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SaveData {
  Vec2 playerPosition;
  InventoryData inventory; // 背包数据
  int dayCount;            // 天数
  std::vector farmTiles; // 农田
  std::vector chests; // 箱子
  std::vector skills; // 技能
};
class SaveManager {
  bool saveGame(const SaveData&amp; data); // JSON序列化
  bool loadGame(SaveData&amp; data);
};
</a:t>
            </a:r>
            <a:endParaRPr lang="en-US" sz="850" b="1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1"/>
            </p:custDataLst>
          </p:nvPr>
        </p:nvSpPr>
        <p:spPr>
          <a:xfrm>
            <a:off x="288885" y="4413329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Sa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veManager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同为单例模式，负责游戏的持久化存储与加载</a:t>
            </a: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SaveData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能够高效地序列化和反序列化玩家的位置、背包、农田状态、技能等关键游戏数据</a:t>
            </a: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保障玩家进度不丢失</a:t>
            </a:r>
            <a:endParaRPr 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2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670" y="320278"/>
            <a:ext cx="3784521" cy="363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游戏对象类：怪物基类与派生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00050" y="806371"/>
            <a:ext cx="3956566" cy="2912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Monster：怪物基类（模板方法模式）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1825" y="1564997"/>
            <a:ext cx="13815060" cy="1938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所有游戏中的怪物均继承自 </a:t>
            </a:r>
            <a:r>
              <a:rPr lang="en-US" sz="20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Monster</a:t>
            </a: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基类，利用模板方法模式统一了怪物的行为框架</a:t>
            </a: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同时允许子类自定义其独特属性和表现。这大大增强了游戏的可扩展性。</a:t>
            </a: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7670" y="1219200"/>
            <a:ext cx="3799205" cy="3154045"/>
          </a:xfrm>
          <a:prstGeom prst="roundRect">
            <a:avLst>
              <a:gd name="adj" fmla="val 5540"/>
            </a:avLst>
          </a:prstGeom>
          <a:solidFill>
            <a:srgbClr val="E9DEC7"/>
          </a:solidFill>
        </p:spPr>
      </p:sp>
      <p:sp>
        <p:nvSpPr>
          <p:cNvPr id="6" name="Shape 4"/>
          <p:cNvSpPr/>
          <p:nvPr/>
        </p:nvSpPr>
        <p:spPr>
          <a:xfrm>
            <a:off x="401955" y="1219200"/>
            <a:ext cx="3837940" cy="3295650"/>
          </a:xfrm>
          <a:prstGeom prst="roundRect">
            <a:avLst>
              <a:gd name="adj" fmla="val 554"/>
            </a:avLst>
          </a:prstGeom>
          <a:solidFill>
            <a:srgbClr val="E9DEC7"/>
          </a:solidFill>
        </p:spPr>
      </p:sp>
      <p:sp>
        <p:nvSpPr>
          <p:cNvPr id="7" name="Text 5"/>
          <p:cNvSpPr/>
          <p:nvPr/>
        </p:nvSpPr>
        <p:spPr>
          <a:xfrm>
            <a:off x="518160" y="1306830"/>
            <a:ext cx="3410585" cy="297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Monster : public cocos2d::Sprite {
protected:
  std::string name_;
  int hp_, maxHp_, attackPower_;
  float moveSpeed_, attackRange_;
  int floorLevel_; // 楼层影响属性
  Player* targetPlayer_; // AI追踪目标
  virtual void initStats() = 0; // 子类重写属性
  virtual void initDisplay();
  virtual void updateAI(float delta); // AI追踪逻辑
public:
  virtual void takeDamage(int damage);
  virtual void attackPlayer(Player* player);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1825" y="3149719"/>
            <a:ext cx="13815060" cy="1938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基类定义了怪物的通用属性 (生命值、攻击力、移动速度) 和核心行为 (受到伤害、攻击玩家)</a:t>
            </a: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并留下了抽象方法 </a:t>
            </a:r>
            <a:r>
              <a:rPr lang="en-US" sz="20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initStats()</a:t>
            </a: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由具体怪物类实现</a:t>
            </a:r>
            <a:r>
              <a:rPr lang="en-US" sz="1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。</a:t>
            </a:r>
            <a:endParaRPr lang="en-US" sz="1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1955" y="4570285"/>
            <a:ext cx="13815060" cy="22146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07670" y="4812109"/>
            <a:ext cx="1456015" cy="181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子类实现示例</a:t>
            </a:r>
            <a:endParaRPr lang="en-US" sz="2400" dirty="0"/>
          </a:p>
        </p:txBody>
      </p:sp>
      <p:sp>
        <p:nvSpPr>
          <p:cNvPr id="11" name="Text 9"/>
          <p:cNvSpPr/>
          <p:nvPr>
            <p:custDataLst>
              <p:tags r:id="rId1"/>
            </p:custDataLst>
          </p:nvPr>
        </p:nvSpPr>
        <p:spPr>
          <a:xfrm>
            <a:off x="405765" y="5115362"/>
            <a:ext cx="6765488" cy="186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史莱姆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：快速、低血量</a:t>
            </a:r>
            <a:endParaRPr lang="en-US" sz="1400" dirty="0"/>
          </a:p>
        </p:txBody>
      </p:sp>
      <p:sp>
        <p:nvSpPr>
          <p:cNvPr id="12" name="Shape 10"/>
          <p:cNvSpPr/>
          <p:nvPr>
            <p:custDataLst>
              <p:tags r:id="rId2"/>
            </p:custDataLst>
          </p:nvPr>
        </p:nvSpPr>
        <p:spPr>
          <a:xfrm>
            <a:off x="405765" y="5432544"/>
            <a:ext cx="6765488" cy="1291828"/>
          </a:xfrm>
          <a:prstGeom prst="roundRect">
            <a:avLst>
              <a:gd name="adj" fmla="val 13526"/>
            </a:avLst>
          </a:prstGeom>
          <a:solidFill>
            <a:srgbClr val="E9DEC7"/>
          </a:solidFill>
        </p:spPr>
      </p:sp>
      <p:sp>
        <p:nvSpPr>
          <p:cNvPr id="13" name="Shape 11"/>
          <p:cNvSpPr/>
          <p:nvPr>
            <p:custDataLst>
              <p:tags r:id="rId3"/>
            </p:custDataLst>
          </p:nvPr>
        </p:nvSpPr>
        <p:spPr>
          <a:xfrm>
            <a:off x="400050" y="5432544"/>
            <a:ext cx="6776918" cy="1291828"/>
          </a:xfrm>
          <a:prstGeom prst="roundRect">
            <a:avLst>
              <a:gd name="adj" fmla="val 1353"/>
            </a:avLst>
          </a:prstGeom>
          <a:solidFill>
            <a:srgbClr val="E9DEC7"/>
          </a:solidFill>
        </p:spPr>
      </p:sp>
      <p:sp>
        <p:nvSpPr>
          <p:cNvPr id="14" name="Text 12"/>
          <p:cNvSpPr/>
          <p:nvPr>
            <p:custDataLst>
              <p:tags r:id="rId4"/>
            </p:custDataLst>
          </p:nvPr>
        </p:nvSpPr>
        <p:spPr>
          <a:xfrm>
            <a:off x="516493" y="5519817"/>
            <a:ext cx="6544032" cy="1117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Slime::initStats() {
  hp_ = 50 + floorLevel_ * 10;
  attackPower_ = 5 + floorLevel_ * 2;
  moveSpeed_ = 80.0f;
}
</a:t>
            </a:r>
            <a:endParaRPr lang="en-US" sz="1200" dirty="0"/>
          </a:p>
        </p:txBody>
      </p:sp>
      <p:sp>
        <p:nvSpPr>
          <p:cNvPr id="15" name="Text 13"/>
          <p:cNvSpPr/>
          <p:nvPr>
            <p:custDataLst>
              <p:tags r:id="rId5"/>
            </p:custDataLst>
          </p:nvPr>
        </p:nvSpPr>
        <p:spPr>
          <a:xfrm>
            <a:off x="7463155" y="5115560"/>
            <a:ext cx="5660390" cy="186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僵尸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：慢速、高血量</a:t>
            </a:r>
            <a:endParaRPr lang="en-US" sz="1400" dirty="0"/>
          </a:p>
        </p:txBody>
      </p:sp>
      <p:sp>
        <p:nvSpPr>
          <p:cNvPr id="16" name="Shape 14"/>
          <p:cNvSpPr/>
          <p:nvPr>
            <p:custDataLst>
              <p:tags r:id="rId6"/>
            </p:custDataLst>
          </p:nvPr>
        </p:nvSpPr>
        <p:spPr>
          <a:xfrm>
            <a:off x="7462957" y="5432544"/>
            <a:ext cx="6765488" cy="1291828"/>
          </a:xfrm>
          <a:prstGeom prst="roundRect">
            <a:avLst>
              <a:gd name="adj" fmla="val 13526"/>
            </a:avLst>
          </a:prstGeom>
          <a:solidFill>
            <a:srgbClr val="E9DEC7"/>
          </a:solidFill>
        </p:spPr>
      </p:sp>
      <p:sp>
        <p:nvSpPr>
          <p:cNvPr id="17" name="Shape 15"/>
          <p:cNvSpPr/>
          <p:nvPr>
            <p:custDataLst>
              <p:tags r:id="rId7"/>
            </p:custDataLst>
          </p:nvPr>
        </p:nvSpPr>
        <p:spPr>
          <a:xfrm>
            <a:off x="7457242" y="5432544"/>
            <a:ext cx="6776918" cy="1291828"/>
          </a:xfrm>
          <a:prstGeom prst="roundRect">
            <a:avLst>
              <a:gd name="adj" fmla="val 1353"/>
            </a:avLst>
          </a:prstGeom>
          <a:solidFill>
            <a:srgbClr val="E9DEC7"/>
          </a:solidFill>
        </p:spPr>
      </p:sp>
      <p:sp>
        <p:nvSpPr>
          <p:cNvPr id="18" name="Text 16"/>
          <p:cNvSpPr/>
          <p:nvPr>
            <p:custDataLst>
              <p:tags r:id="rId8"/>
            </p:custDataLst>
          </p:nvPr>
        </p:nvSpPr>
        <p:spPr>
          <a:xfrm>
            <a:off x="7573685" y="5519817"/>
            <a:ext cx="6544032" cy="1117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Zombie::initStats() {
  hp_ = 100 + floorLevel_ * 20;
  attackPower_ = 10 + floorLevel_ * 3;
  moveSpeed_ = 40.0f;
}
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5765" y="6986310"/>
            <a:ext cx="13815060" cy="1938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不同怪物通过重写 </a:t>
            </a:r>
            <a:r>
              <a:rPr lang="en-US" sz="2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initStats()</a:t>
            </a:r>
            <a:r>
              <a:rPr lang="en-US" sz="2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方法，根据所在楼层调整自身属性，实现了多样化的敌人行为与挑战</a:t>
            </a:r>
            <a:endParaRPr lang="en-US" sz="2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035" y="398264"/>
            <a:ext cx="5013246" cy="4179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类之间的关系：继承、组合与依赖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68035" y="942658"/>
            <a:ext cx="2940248" cy="3342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继承关系：构建多态体系</a:t>
            </a:r>
            <a:endParaRPr lang="en-US" sz="28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8035" y="1404342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cocos2d::Scene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MineScene</a:t>
            </a:r>
            <a:endParaRPr lang="en-US" sz="1400" b="1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8035" y="1672590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cocos2d::Sprite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Monster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(Slime, Zombie),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NPC</a:t>
            </a:r>
            <a:endParaRPr lang="en-US" sz="1400" b="1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8035" y="1940838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cocos2d::Node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InventoryManager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WeatherManager</a:t>
            </a:r>
            <a:endParaRPr lang="en-US" sz="1400" b="1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8035" y="2209086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cocos2d::Layer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InventoryUI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MarketUI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SkillTreeUI</a:t>
            </a:r>
            <a:endParaRPr lang="en-US" sz="1400" b="1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8035" y="2580918"/>
            <a:ext cx="13694331" cy="2138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通过继承，我们实现了代码复用和多态性，使得不同类型的场景、角色和UI能够共享基础功能并扩展各自的独有特性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8035" y="3011900"/>
            <a:ext cx="13694331" cy="24289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68035" y="3236595"/>
            <a:ext cx="2940248" cy="3342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组合关系：构建复杂系统</a:t>
            </a:r>
            <a:endParaRPr lang="en-US" sz="32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8035" y="3771305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通过组合关系，将地图、玩家、各类管理器和UI集成在一起，形成一个完整的游戏场景。这种松散耦合的方式使得各个组件可以独立开发和维护。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8035" y="4143137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组合 { </a:t>
            </a: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MapLayer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InventoryManager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(单例共享), </a:t>
            </a: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WeatherManager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UI层 }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8035" y="4581739"/>
            <a:ext cx="13694331" cy="24289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468035" y="4806434"/>
            <a:ext cx="2940248" cy="3342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依赖关系：明确模块协作</a:t>
            </a:r>
            <a:endParaRPr lang="en-US" sz="32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8035" y="5341144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依赖 → </a:t>
            </a: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MapLayer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(用于碰撞检测)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8035" y="5609392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依赖 → </a:t>
            </a: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(用于农田操作)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8035" y="5877639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依赖 → </a:t>
            </a: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TimeManager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(时间驱动)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8035" y="6145887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依赖 → </a:t>
            </a: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WeatherManager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(天气影响作物生长)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8035" y="6414135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Monster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依赖 → </a:t>
            </a: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(AI追踪目标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)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8035" y="6910745"/>
            <a:ext cx="1671518" cy="2089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数据流示例</a:t>
            </a:r>
            <a:r>
              <a:rPr lang="zh-CN" altLang="en-US" b="1" dirty="0">
                <a:solidFill>
                  <a:srgbClr val="403011"/>
                </a:solidFill>
                <a:latin typeface="Brygada 1918 Semi Bold" pitchFamily="34" charset="0"/>
                <a:ea typeface="宋体" panose="02010600030101010101" pitchFamily="2" charset="-122"/>
                <a:cs typeface="Brygada 1918 Semi Bold" pitchFamily="34" charset="-120"/>
              </a:rPr>
              <a:t>：</a:t>
            </a:r>
            <a:endParaRPr lang="zh-CN" altLang="en-US" b="1" dirty="0">
              <a:solidFill>
                <a:srgbClr val="403011"/>
              </a:solidFill>
              <a:latin typeface="Brygada 1918 Semi Bold" pitchFamily="34" charset="0"/>
              <a:ea typeface="宋体" panose="02010600030101010101" pitchFamily="2" charset="-122"/>
              <a:cs typeface="Brygada 1918 Semi Bold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8035" y="7200186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用户按键 →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计算坐标 →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检查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TimeManager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更新数据 →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SkillManager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InventoryManager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刷新UI</a:t>
            </a:r>
            <a:endParaRPr lang="en-US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262" y="140653"/>
            <a:ext cx="5654873" cy="7068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项目加分项展示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8632" y="1659890"/>
            <a:ext cx="13047107" cy="3619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除了核心功能实现，项目在开发流程和团队协作上也严格遵循了高效与规范。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59262" y="2144787"/>
            <a:ext cx="13047107" cy="35838"/>
          </a:xfrm>
          <a:prstGeom prst="rect">
            <a:avLst/>
          </a:prstGeom>
          <a:solidFill>
            <a:srgbClr val="403011">
              <a:alpha val="5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59262" y="970955"/>
            <a:ext cx="5622369" cy="565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Github使用规范与团队协作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759262" y="2390735"/>
            <a:ext cx="2827377" cy="3533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仓库规范化管理</a:t>
            </a:r>
            <a:r>
              <a:rPr lang="zh-CN" altLang="en-US" sz="2200" dirty="0">
                <a:solidFill>
                  <a:srgbClr val="403011"/>
                </a:solidFill>
                <a:latin typeface="Brygada 1918 Semi Bold" pitchFamily="34" charset="0"/>
                <a:ea typeface="宋体" panose="02010600030101010101" pitchFamily="2" charset="-122"/>
                <a:cs typeface="Brygada 1918 Semi Bold" pitchFamily="34" charset="-120"/>
              </a:rPr>
              <a:t>：</a:t>
            </a:r>
            <a:endParaRPr lang="zh-CN" altLang="en-US" sz="2200" dirty="0">
              <a:solidFill>
                <a:srgbClr val="403011"/>
              </a:solidFill>
              <a:latin typeface="Brygada 1918 Semi Bold" pitchFamily="34" charset="0"/>
              <a:ea typeface="宋体" panose="02010600030101010101" pitchFamily="2" charset="-122"/>
              <a:cs typeface="Brygada 1918 Semi Bold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8632" y="2883218"/>
            <a:ext cx="6247686" cy="754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SzPct val="100000"/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📁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清晰的目录结构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：严格区分 </a:t>
            </a: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Classes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(核心代码) 与 </a:t>
            </a: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Resources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(资源文件)，便于查找与维护。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8632" y="3716655"/>
            <a:ext cx="624768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SzPct val="100000"/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📄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完整的Readme.md</a:t>
            </a:r>
            <a:r>
              <a:rPr lang="zh-CN" alt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文件：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包含项目简介、功能清单、技术栈、安装与运行指南，确保成员快速上手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738" y="5142190"/>
            <a:ext cx="2827377" cy="3533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高效的Commit记录</a:t>
            </a:r>
            <a:r>
              <a:rPr lang="zh-CN" altLang="en-US" sz="2200" dirty="0">
                <a:solidFill>
                  <a:srgbClr val="403011"/>
                </a:solidFill>
                <a:latin typeface="Brygada 1918 Semi Bold" pitchFamily="34" charset="0"/>
                <a:ea typeface="宋体" panose="02010600030101010101" pitchFamily="2" charset="-122"/>
                <a:cs typeface="Brygada 1918 Semi Bold" pitchFamily="34" charset="-120"/>
              </a:rPr>
              <a:t>：</a:t>
            </a:r>
            <a:endParaRPr lang="zh-CN" altLang="en-US" sz="2200" dirty="0">
              <a:solidFill>
                <a:srgbClr val="403011"/>
              </a:solidFill>
              <a:latin typeface="Brygada 1918 Semi Bold" pitchFamily="34" charset="0"/>
              <a:ea typeface="宋体" panose="02010600030101010101" pitchFamily="2" charset="-122"/>
              <a:cs typeface="Brygada 1918 Semi Bold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738" y="5721668"/>
            <a:ext cx="6247686" cy="369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SzPct val="100000"/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📈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持续迭代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：累计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171次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提交，项目功能逐步完善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738" y="6170295"/>
            <a:ext cx="6247686" cy="369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SzPct val="100000"/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💻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团队贡献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：4名成员均有实质性提交，体现良好协作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67360" y="6576695"/>
            <a:ext cx="6178550" cy="1323975"/>
          </a:xfrm>
          <a:prstGeom prst="roundRect">
            <a:avLst>
              <a:gd name="adj" fmla="val 20138"/>
            </a:avLst>
          </a:prstGeom>
          <a:solidFill>
            <a:srgbClr val="DFE4CE"/>
          </a:solidFill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27" y="6783070"/>
            <a:ext cx="282654" cy="2261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85520" y="6700520"/>
            <a:ext cx="6002655" cy="1085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Commit特点</a:t>
            </a: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：描述清晰具体，专注单一改动；</a:t>
            </a:r>
            <a:endParaRPr lang="en-US" sz="1750" dirty="0">
              <a:solidFill>
                <a:srgbClr val="000000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修复bug立即提交，快速迭代；</a:t>
            </a:r>
            <a:r>
              <a:rPr lang="zh-CN" alt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简洁</a:t>
            </a: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描述，便于团队理解。</a:t>
            </a:r>
            <a:endParaRPr lang="en-US" sz="1750" dirty="0">
              <a:solidFill>
                <a:srgbClr val="000000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algn="l">
              <a:lnSpc>
                <a:spcPts val="2800"/>
              </a:lnSpc>
              <a:buClrTx/>
              <a:buSzTx/>
              <a:buFontTx/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使用desktop实现自动化拉取与上传</a:t>
            </a:r>
            <a:endParaRPr lang="en-US" sz="1750" dirty="0">
              <a:solidFill>
                <a:srgbClr val="000000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225" y="2336800"/>
            <a:ext cx="6025515" cy="212153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l="1561" t="9953" b="10420"/>
          <a:stretch>
            <a:fillRect/>
          </a:stretch>
        </p:blipFill>
        <p:spPr>
          <a:xfrm>
            <a:off x="12854305" y="7640955"/>
            <a:ext cx="1776095" cy="58864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225" y="4879975"/>
            <a:ext cx="4836795" cy="3349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代码质量与内存管理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1120" y="749714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96835" y="867212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内存管理策略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410805" y="1177012"/>
            <a:ext cx="1894880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Cocos2d-x 引用计数机制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550" y="1416169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利用 </a:t>
            </a:r>
            <a:r>
              <a:rPr lang="en-US" sz="1400" dirty="0">
                <a:solidFill>
                  <a:srgbClr val="403011"/>
                </a:solidFill>
                <a:latin typeface="+mj-lt"/>
                <a:ea typeface="Brygada 1918" pitchFamily="34" charset="-122"/>
                <a:cs typeface="+mj-lt"/>
              </a:rPr>
              <a:t>Cocos2d-x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的</a:t>
            </a:r>
            <a:r>
              <a:rPr lang="en-US" sz="1400" b="1" dirty="0">
                <a:solidFill>
                  <a:srgbClr val="403011"/>
                </a:solidFill>
                <a:latin typeface="+mj-lt"/>
                <a:ea typeface="Brygada 1918" pitchFamily="34" charset="-122"/>
                <a:cs typeface="+mj-lt"/>
              </a:rPr>
              <a:t>autorelease</a:t>
            </a:r>
            <a:r>
              <a:rPr lang="en-US" sz="1400" dirty="0">
                <a:solidFill>
                  <a:srgbClr val="403011"/>
                </a:solidFill>
                <a:latin typeface="+mj-lt"/>
                <a:ea typeface="Brygada 1918" pitchFamily="34" charset="-122"/>
                <a:cs typeface="+mj-lt"/>
              </a:rPr>
              <a:t>()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机制</a:t>
            </a:r>
            <a:endParaRPr lang="en-US" sz="14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我们确保了对象在不再需要时能被自动回收，避免手动内存管理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1955" y="1870710"/>
            <a:ext cx="3446145" cy="1803400"/>
          </a:xfrm>
          <a:prstGeom prst="roundRect">
            <a:avLst>
              <a:gd name="adj" fmla="val 9435"/>
            </a:avLst>
          </a:prstGeom>
          <a:solidFill>
            <a:srgbClr val="E9DEC7"/>
          </a:solidFill>
        </p:spPr>
      </p:sp>
      <p:sp>
        <p:nvSpPr>
          <p:cNvPr id="9" name="Shape 7"/>
          <p:cNvSpPr/>
          <p:nvPr/>
        </p:nvSpPr>
        <p:spPr>
          <a:xfrm>
            <a:off x="390525" y="1870710"/>
            <a:ext cx="4614545" cy="1803400"/>
          </a:xfrm>
          <a:prstGeom prst="roundRect">
            <a:avLst>
              <a:gd name="adj" fmla="val 944"/>
            </a:avLst>
          </a:prstGeom>
          <a:solidFill>
            <a:srgbClr val="E9DEC7"/>
          </a:solidFill>
        </p:spPr>
      </p:sp>
      <p:sp>
        <p:nvSpPr>
          <p:cNvPr id="10" name="Text 8"/>
          <p:cNvSpPr/>
          <p:nvPr/>
        </p:nvSpPr>
        <p:spPr>
          <a:xfrm>
            <a:off x="504190" y="1955800"/>
            <a:ext cx="4436110" cy="163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FarmManager* FarmManager::create(MapLayer* mapLayer)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FarmManager* mgr = new (std::nothrow) FarmManager();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(mgr &amp;&amp; mgr-&gt;init(mapLayer))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mgr-&gt;autorelease();  // Cocos2d-x自动释放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return mgr;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CC_SAFE_DELETE(mgr);  // 失败时安全删除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nullptr;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72260" y="928370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智能指针管理</a:t>
            </a:r>
            <a:endParaRPr lang="en-US" b="1" dirty="0"/>
          </a:p>
        </p:txBody>
      </p:sp>
      <p:sp>
        <p:nvSpPr>
          <p:cNvPr id="12" name="Text 10"/>
          <p:cNvSpPr/>
          <p:nvPr/>
        </p:nvSpPr>
        <p:spPr>
          <a:xfrm>
            <a:off x="6972260" y="1255157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对于非 Cocos2d-x 管理的对象（特别是单例模式中的全局实例）</a:t>
            </a:r>
            <a:endParaRPr lang="en-US" sz="12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我们广泛使用 C++11 的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std::unique_ptr</a:t>
            </a:r>
            <a:endParaRPr lang="en-US" sz="1200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实现资源的自动化管理和 RAII 原则。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6595" y="1839595"/>
            <a:ext cx="3042285" cy="1440180"/>
          </a:xfrm>
          <a:prstGeom prst="roundRect">
            <a:avLst>
              <a:gd name="adj" fmla="val 11813"/>
            </a:avLst>
          </a:prstGeom>
          <a:solidFill>
            <a:srgbClr val="E9DEC7"/>
          </a:solidFill>
        </p:spPr>
      </p:sp>
      <p:sp>
        <p:nvSpPr>
          <p:cNvPr id="14" name="Shape 12"/>
          <p:cNvSpPr/>
          <p:nvPr/>
        </p:nvSpPr>
        <p:spPr>
          <a:xfrm>
            <a:off x="6933565" y="1842770"/>
            <a:ext cx="3709670" cy="1831340"/>
          </a:xfrm>
          <a:prstGeom prst="roundRect">
            <a:avLst>
              <a:gd name="adj" fmla="val 1181"/>
            </a:avLst>
          </a:prstGeom>
          <a:solidFill>
            <a:srgbClr val="E9DEC7"/>
          </a:solidFill>
        </p:spPr>
      </p:sp>
      <p:sp>
        <p:nvSpPr>
          <p:cNvPr id="15" name="Text 13"/>
          <p:cNvSpPr/>
          <p:nvPr/>
        </p:nvSpPr>
        <p:spPr>
          <a:xfrm>
            <a:off x="7047230" y="1927860"/>
            <a:ext cx="3588385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template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Singleton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static std::unique_ptr instance_;  // 自动释放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static void destroyInstance()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instance_.reset();  // 显式释放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3820" y="3822660"/>
            <a:ext cx="2210276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严格的空指针检查与安全分配</a:t>
            </a:r>
            <a:endParaRPr lang="en-US" sz="1750" b="1" dirty="0"/>
          </a:p>
        </p:txBody>
      </p:sp>
      <p:sp>
        <p:nvSpPr>
          <p:cNvPr id="17" name="Text 15"/>
          <p:cNvSpPr/>
          <p:nvPr/>
        </p:nvSpPr>
        <p:spPr>
          <a:xfrm>
            <a:off x="403820" y="4144367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在对象创建和使用时进行严格的空指针检查，并采用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std::nothrow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进行内存分配，确保程序在资源不足时能优雅处理，避免崩溃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1625" y="4427220"/>
            <a:ext cx="3554730" cy="1621790"/>
          </a:xfrm>
          <a:prstGeom prst="roundRect">
            <a:avLst>
              <a:gd name="adj" fmla="val 10491"/>
            </a:avLst>
          </a:prstGeom>
          <a:solidFill>
            <a:srgbClr val="E9DEC7"/>
          </a:solidFill>
        </p:spPr>
      </p:sp>
      <p:sp>
        <p:nvSpPr>
          <p:cNvPr id="19" name="Shape 17"/>
          <p:cNvSpPr/>
          <p:nvPr/>
        </p:nvSpPr>
        <p:spPr>
          <a:xfrm>
            <a:off x="295910" y="4427220"/>
            <a:ext cx="3555365" cy="1621790"/>
          </a:xfrm>
          <a:prstGeom prst="roundRect">
            <a:avLst>
              <a:gd name="adj" fmla="val 1049"/>
            </a:avLst>
          </a:prstGeom>
          <a:solidFill>
            <a:srgbClr val="E9DEC7"/>
          </a:solidFill>
        </p:spPr>
      </p:sp>
      <p:sp>
        <p:nvSpPr>
          <p:cNvPr id="20" name="Text 18"/>
          <p:cNvSpPr/>
          <p:nvPr/>
        </p:nvSpPr>
        <p:spPr>
          <a:xfrm>
            <a:off x="409575" y="4484370"/>
            <a:ext cx="324167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指针使用前检查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(mapLayer_)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mapLayer_-&gt;worldToTile(position);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nothrow分配，确保安全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Player* player = new (std::nothrow) Player();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(!player) return false;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7300" y="6087722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290155" y="6094095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验证与成果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290195" y="6377305"/>
            <a:ext cx="4536440" cy="1657350"/>
          </a:xfrm>
          <a:prstGeom prst="roundRect">
            <a:avLst>
              <a:gd name="adj" fmla="val 15162"/>
            </a:avLst>
          </a:prstGeom>
          <a:solidFill>
            <a:srgbClr val="626C3B"/>
          </a:solidFill>
          <a:ln w="7620">
            <a:solidFill>
              <a:srgbClr val="626C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123" y="649839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626C3B"/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706" y="6591975"/>
            <a:ext cx="152995" cy="15299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1123" y="6951901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长时间运行无内存增长</a:t>
            </a:r>
            <a:endParaRPr lang="en-US" b="1" dirty="0">
              <a:solidFill>
                <a:srgbClr val="FFFFFF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57860" y="7192010"/>
            <a:ext cx="4294505" cy="5683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经过长时间的压力测试，游戏内存使用保持</a:t>
            </a:r>
            <a:endParaRPr lang="en-US" b="1" dirty="0">
              <a:solidFill>
                <a:srgbClr val="FFFFFF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平稳，无堆积现象</a:t>
            </a:r>
            <a:r>
              <a:rPr lang="en-US" sz="120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。</a:t>
            </a:r>
            <a:endParaRPr lang="en-US" sz="1200" b="1" dirty="0">
              <a:solidFill>
                <a:srgbClr val="FFFFFF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940300" y="6377305"/>
            <a:ext cx="4536440" cy="1657350"/>
          </a:xfrm>
          <a:prstGeom prst="roundRect">
            <a:avLst>
              <a:gd name="adj" fmla="val 15162"/>
            </a:avLst>
          </a:prstGeom>
          <a:solidFill>
            <a:srgbClr val="626C3B"/>
          </a:solidFill>
          <a:ln w="7620">
            <a:solidFill>
              <a:srgbClr val="83792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61109" y="649839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83792E"/>
          </a:solidFill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4692" y="6591975"/>
            <a:ext cx="152995" cy="15299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061109" y="6951901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场景切换无泄漏</a:t>
            </a:r>
            <a:endParaRPr lang="en-US" b="1" dirty="0">
              <a:solidFill>
                <a:srgbClr val="FFFFFF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5295900" y="7205345"/>
            <a:ext cx="4294505" cy="6572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在不同游戏场景间频繁切换，确保所有资源在切换时得到</a:t>
            </a:r>
            <a:endParaRPr lang="en-US" b="1" dirty="0">
              <a:solidFill>
                <a:srgbClr val="FFFFFF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正确释放。</a:t>
            </a:r>
            <a:endParaRPr lang="en-US" b="1" dirty="0">
              <a:solidFill>
                <a:srgbClr val="FFFFFF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9590405" y="6377305"/>
            <a:ext cx="4536440" cy="1657350"/>
          </a:xfrm>
          <a:prstGeom prst="roundRect">
            <a:avLst>
              <a:gd name="adj" fmla="val 15162"/>
            </a:avLst>
          </a:prstGeom>
          <a:solidFill>
            <a:srgbClr val="626C3B"/>
          </a:solidFill>
          <a:ln w="7620">
            <a:solidFill>
              <a:srgbClr val="E8AF3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711095" y="649839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E8AF3B"/>
          </a:solidFill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4678" y="6591975"/>
            <a:ext cx="152995" cy="152995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711095" y="6951901"/>
            <a:ext cx="1862495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Cocos2d-x 析构函数正确调用</a:t>
            </a:r>
            <a:endParaRPr lang="en-US" sz="1600" b="1" dirty="0">
              <a:solidFill>
                <a:srgbClr val="FFFFFF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9711055" y="7242810"/>
            <a:ext cx="4187825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关键对象在生命周期结束时，其析构函数被</a:t>
            </a:r>
            <a:endParaRPr lang="en-US" b="1" dirty="0">
              <a:solidFill>
                <a:srgbClr val="FFFFFF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正确调用，回收了相关资源。</a:t>
            </a:r>
            <a:endParaRPr lang="en-US" b="1" dirty="0">
              <a:solidFill>
                <a:srgbClr val="FFFFFF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7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C++特性应用展示</a:t>
            </a:r>
            <a:endParaRPr lang="en-US" sz="280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6835" y="711518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zh-CN" alt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一、</a:t>
            </a:r>
            <a:r>
              <a:rPr lang="en-US" altLang="zh-CN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STL</a:t>
            </a:r>
            <a:r>
              <a:rPr 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容器应用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402550" y="1028677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02550" y="1125855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E8AF3B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std::vector</a:t>
            </a: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- 动态数组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311150" y="1384300"/>
            <a:ext cx="3749040" cy="2284095"/>
          </a:xfrm>
          <a:prstGeom prst="roundRect">
            <a:avLst>
              <a:gd name="adj" fmla="val 6727"/>
            </a:avLst>
          </a:prstGeom>
          <a:solidFill>
            <a:srgbClr val="E9DEC7"/>
          </a:solidFill>
        </p:spPr>
      </p:sp>
      <p:sp>
        <p:nvSpPr>
          <p:cNvPr id="8" name="Shape 6"/>
          <p:cNvSpPr/>
          <p:nvPr/>
        </p:nvSpPr>
        <p:spPr>
          <a:xfrm>
            <a:off x="305435" y="1384300"/>
            <a:ext cx="3755390" cy="2277745"/>
          </a:xfrm>
          <a:prstGeom prst="roundRect">
            <a:avLst>
              <a:gd name="adj" fmla="val 673"/>
            </a:avLst>
          </a:prstGeom>
          <a:solidFill>
            <a:srgbClr val="E9DEC7"/>
          </a:solidFill>
        </p:spPr>
      </p:sp>
      <p:sp>
        <p:nvSpPr>
          <p:cNvPr id="9" name="Text 7"/>
          <p:cNvSpPr/>
          <p:nvPr/>
        </p:nvSpPr>
        <p:spPr>
          <a:xfrm>
            <a:off x="419100" y="1469390"/>
            <a:ext cx="3625215" cy="2218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GameScene.h
struct TreeChopData {
    cocos2d::Vec2 tileCoord;
    std::vector&lt;cocos2d::Vec2&gt; tiles;  // 整棵树的所有瓦片
    cocos2d::Sprite* treeSprite;
    int chopCount;
};
std::vector&lt;TreeChopData&gt; activeChops_;      // 正在被砍的树
std::vector&lt;cocos2d::Vec2&gt; choppedTrees_;    // 已砍倒的树
std::vector&lt;Monster*&gt; monsters_;             // 怪物列表
std::vector&lt;TreasureChest*&gt; chests_;         // 宝箱列表
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05435" y="3818890"/>
            <a:ext cx="13836650" cy="508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应用：砍树系统中的 </a:t>
            </a: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activeChops_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存储正在被砍伐的树木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            </a:t>
            </a: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choppedTrees_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记录已砍倒的树木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457200" algn="l">
              <a:lnSpc>
                <a:spcPts val="1400"/>
              </a:lnSpc>
              <a:buSzPct val="100000"/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9060" y="4470615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96235" y="1082913"/>
            <a:ext cx="225611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CC914D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std::unordered_map</a:t>
            </a: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- 哈希表</a:t>
            </a:r>
            <a:endParaRPr lang="en-US" sz="1600" b="1" dirty="0"/>
          </a:p>
        </p:txBody>
      </p:sp>
      <p:sp>
        <p:nvSpPr>
          <p:cNvPr id="14" name="Shape 12"/>
          <p:cNvSpPr/>
          <p:nvPr/>
        </p:nvSpPr>
        <p:spPr>
          <a:xfrm>
            <a:off x="8296275" y="1328420"/>
            <a:ext cx="4178300" cy="2625090"/>
          </a:xfrm>
          <a:prstGeom prst="roundRect">
            <a:avLst>
              <a:gd name="adj" fmla="val 5883"/>
            </a:avLst>
          </a:prstGeom>
          <a:solidFill>
            <a:srgbClr val="E9DEC7"/>
          </a:solidFill>
        </p:spPr>
      </p:sp>
      <p:sp>
        <p:nvSpPr>
          <p:cNvPr id="15" name="Shape 13"/>
          <p:cNvSpPr/>
          <p:nvPr/>
        </p:nvSpPr>
        <p:spPr>
          <a:xfrm>
            <a:off x="8290560" y="1328420"/>
            <a:ext cx="4188460" cy="2640330"/>
          </a:xfrm>
          <a:prstGeom prst="roundRect">
            <a:avLst>
              <a:gd name="adj" fmla="val 588"/>
            </a:avLst>
          </a:prstGeom>
          <a:solidFill>
            <a:srgbClr val="E9DEC7"/>
          </a:solidFill>
        </p:spPr>
      </p:sp>
      <p:sp>
        <p:nvSpPr>
          <p:cNvPr id="16" name="Text 14"/>
          <p:cNvSpPr/>
          <p:nvPr/>
        </p:nvSpPr>
        <p:spPr>
          <a:xfrm>
            <a:off x="8404225" y="1412875"/>
            <a:ext cx="4064000" cy="2548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FarmManager.h
private:
    struct CropDef {
        int id;
        std::string name;
        std::vector&lt;int&gt; stageDays;  // 每阶段天数
        int salePrice;
    };
    std::unordered_map&lt;int, CropDef&gt; crops_;  // cropId -&gt; CropDef
    CropDef getCropDef(int cropId) const {
        return crops_.at(cropId);  // O(1)查找
    }
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62750" y="3957320"/>
            <a:ext cx="13836650" cy="412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应用：在 </a:t>
            </a: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中，</a:t>
            </a: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crops_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以作物ID为键，存储作物定义 </a:t>
            </a: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CropDef</a:t>
            </a:r>
            <a:endParaRPr lang="en-US" sz="1600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实现了对作物属性的 </a:t>
            </a:r>
            <a:r>
              <a:rPr lang="en-US" sz="1600" dirty="0">
                <a:solidFill>
                  <a:srgbClr val="CC914D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O(1) 平均时间复杂度查找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，确保了数据检索的极高效率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6835" y="4561364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626C3B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std::map</a:t>
            </a: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- 有序映射</a:t>
            </a:r>
            <a:endParaRPr lang="en-US" sz="1600" b="1" dirty="0"/>
          </a:p>
        </p:txBody>
      </p:sp>
      <p:sp>
        <p:nvSpPr>
          <p:cNvPr id="21" name="Shape 19"/>
          <p:cNvSpPr/>
          <p:nvPr/>
        </p:nvSpPr>
        <p:spPr>
          <a:xfrm>
            <a:off x="311110" y="4838978"/>
            <a:ext cx="13836729" cy="2528888"/>
          </a:xfrm>
          <a:prstGeom prst="roundRect">
            <a:avLst>
              <a:gd name="adj" fmla="val 6727"/>
            </a:avLst>
          </a:prstGeom>
          <a:solidFill>
            <a:srgbClr val="E9DEC7"/>
          </a:solidFill>
        </p:spPr>
      </p:sp>
      <p:sp>
        <p:nvSpPr>
          <p:cNvPr id="22" name="Shape 20"/>
          <p:cNvSpPr/>
          <p:nvPr/>
        </p:nvSpPr>
        <p:spPr>
          <a:xfrm>
            <a:off x="305435" y="4838700"/>
            <a:ext cx="4708525" cy="2529205"/>
          </a:xfrm>
          <a:prstGeom prst="roundRect">
            <a:avLst>
              <a:gd name="adj" fmla="val 673"/>
            </a:avLst>
          </a:prstGeom>
          <a:solidFill>
            <a:srgbClr val="E9DEC7"/>
          </a:solidFill>
        </p:spPr>
      </p:sp>
      <p:sp>
        <p:nvSpPr>
          <p:cNvPr id="23" name="Text 21"/>
          <p:cNvSpPr/>
          <p:nvPr/>
        </p:nvSpPr>
        <p:spPr>
          <a:xfrm>
            <a:off x="418862" y="4923988"/>
            <a:ext cx="13621226" cy="23588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MineScene.h
// 静态数据：记录每层宝箱上次开启的周数
static std::map&lt;int, int&gt; openedChestsPerWeek_;  // key: floor, value: week
void MineScene::initChests() {
    int currentWeek = TimeManager::getInstance()-&gt;getDay() / 7;
    // 如果本周已开启，不生成宝箱
    if (openedChestsPerWeek_[currentFloor_] == currentWeek) {
        return;
    }
}
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1110" y="7495381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应用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MineScene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利用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openedChestsPerWeek_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来管理矿洞宝箱的每周刷新机制。它存储每层矿洞（key）宝箱上次开启的周数（value），确保宝箱按时刷新，并且由于其有序性，也便于按楼层快速查询</a:t>
            </a:r>
            <a:endParaRPr lang="en-US" sz="120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396835" y="311825"/>
            <a:ext cx="3847862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二、迭代器应用 - 范围 for 循环与 </a:t>
            </a:r>
            <a:r>
              <a:rPr lang="en-US" sz="2400" dirty="0">
                <a:solidFill>
                  <a:srgbClr val="E8AF3B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auto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96200" y="569754"/>
            <a:ext cx="13836729" cy="1621631"/>
          </a:xfrm>
          <a:prstGeom prst="roundRect">
            <a:avLst>
              <a:gd name="adj" fmla="val 10491"/>
            </a:avLst>
          </a:prstGeom>
          <a:solidFill>
            <a:srgbClr val="E9DEC7"/>
          </a:solidFill>
        </p:spPr>
      </p:sp>
      <p:sp>
        <p:nvSpPr>
          <p:cNvPr id="5" name="Shape 3"/>
          <p:cNvSpPr/>
          <p:nvPr/>
        </p:nvSpPr>
        <p:spPr>
          <a:xfrm>
            <a:off x="390604" y="569754"/>
            <a:ext cx="13847921" cy="1621631"/>
          </a:xfrm>
          <a:prstGeom prst="roundRect">
            <a:avLst>
              <a:gd name="adj" fmla="val 1049"/>
            </a:avLst>
          </a:prstGeom>
          <a:solidFill>
            <a:srgbClr val="E9DEC7"/>
          </a:solidFill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503952" y="654764"/>
            <a:ext cx="13621226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MineScene.cpp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MineScene::updateMonsters(float delta) {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(auto* monster : monsters_) {  // 指针迭代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(monster &amp;&amp; !monster-&gt;isDead()) {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monster-&gt;update(delta);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02550" y="2340491"/>
            <a:ext cx="13836729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简洁性：无需手动管理迭代器，代码更清晰。</a:t>
            </a:r>
            <a:endParaRPr lang="en-US" sz="2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396835" y="2644775"/>
            <a:ext cx="13836729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安全性：减少了迭代器失效或越界访问的风险。</a:t>
            </a:r>
            <a:endParaRPr lang="en-US" sz="2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396835" y="3017639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普适性：适用于所有支持 </a:t>
            </a:r>
            <a:r>
              <a:rPr lang="en-US" sz="2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begin()</a:t>
            </a:r>
            <a:r>
              <a:rPr lang="en-US" sz="2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和 </a:t>
            </a:r>
            <a:r>
              <a:rPr lang="en-US" sz="24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end()</a:t>
            </a:r>
            <a:r>
              <a:rPr lang="en-US" sz="2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的容器。</a:t>
            </a:r>
            <a:endParaRPr lang="en-US" sz="2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550" y="3293762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90485" y="3478570"/>
            <a:ext cx="4040148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三、类与多态应用 - 纯虚函数与</a:t>
            </a:r>
            <a:r>
              <a:rPr lang="en-US" sz="2400" dirty="0">
                <a:solidFill>
                  <a:srgbClr val="626C3B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接口继承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96875" y="3838575"/>
            <a:ext cx="4305935" cy="3890010"/>
          </a:xfrm>
          <a:prstGeom prst="roundRect">
            <a:avLst>
              <a:gd name="adj" fmla="val 4274"/>
            </a:avLst>
          </a:prstGeom>
          <a:solidFill>
            <a:srgbClr val="E9DEC7"/>
          </a:solidFill>
        </p:spPr>
      </p:sp>
      <p:sp>
        <p:nvSpPr>
          <p:cNvPr id="14" name="Shape 12"/>
          <p:cNvSpPr/>
          <p:nvPr/>
        </p:nvSpPr>
        <p:spPr>
          <a:xfrm>
            <a:off x="391160" y="3838575"/>
            <a:ext cx="4485640" cy="3985260"/>
          </a:xfrm>
          <a:prstGeom prst="roundRect">
            <a:avLst>
              <a:gd name="adj" fmla="val 427"/>
            </a:avLst>
          </a:prstGeom>
          <a:solidFill>
            <a:srgbClr val="E9DEC7"/>
          </a:solidFill>
        </p:spPr>
      </p:sp>
      <p:sp>
        <p:nvSpPr>
          <p:cNvPr id="15" name="Text 13"/>
          <p:cNvSpPr/>
          <p:nvPr/>
        </p:nvSpPr>
        <p:spPr>
          <a:xfrm>
            <a:off x="504587" y="3832662"/>
            <a:ext cx="13621226" cy="38104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Fish.h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Fish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public: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~Fish() {}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纯虚函数：子类必须实现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ItemType getType()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std::string getName()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int getBasePrice()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float getDifficulty()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float getMovementFrequency()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bool isSaltwater()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虚函数：可选重写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bool canSpawn(int hour, </a:t>
            </a:r>
            <a:endParaRPr lang="en-US" sz="1200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int season, int weather) const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true;  // 默认全天候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工厂方法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static Fish* createByType(ItemType type);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5700" y="3402330"/>
            <a:ext cx="7698740" cy="420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Fish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作为抽象基类，定义了所有鱼类必须遵循的“接口”，例如获取类型、名称、价格等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这强制子类实现这些核心行为，从而保证了系统的一致性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27750" y="3910330"/>
            <a:ext cx="4243705" cy="1984375"/>
          </a:xfrm>
          <a:prstGeom prst="roundRect">
            <a:avLst>
              <a:gd name="adj" fmla="val 8572"/>
            </a:avLst>
          </a:prstGeom>
          <a:solidFill>
            <a:srgbClr val="E9DEC7"/>
          </a:solidFill>
        </p:spPr>
      </p:sp>
      <p:sp>
        <p:nvSpPr>
          <p:cNvPr id="18" name="Shape 16"/>
          <p:cNvSpPr/>
          <p:nvPr/>
        </p:nvSpPr>
        <p:spPr>
          <a:xfrm>
            <a:off x="6133465" y="3910330"/>
            <a:ext cx="4859655" cy="2978150"/>
          </a:xfrm>
          <a:prstGeom prst="roundRect">
            <a:avLst>
              <a:gd name="adj" fmla="val 857"/>
            </a:avLst>
          </a:prstGeom>
          <a:solidFill>
            <a:srgbClr val="E9DEC7"/>
          </a:solidFill>
        </p:spPr>
      </p:sp>
      <p:sp>
        <p:nvSpPr>
          <p:cNvPr id="19" name="Text 17"/>
          <p:cNvSpPr/>
          <p:nvPr/>
        </p:nvSpPr>
        <p:spPr>
          <a:xfrm>
            <a:off x="6235700" y="3995420"/>
            <a:ext cx="4135120" cy="181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鲤鱼 - 简单淡水鱼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CarpFish : public Fish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public: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ItemType getType() const override { return ItemType::ITEM_Carp;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std::string getName() const override { return "Carp";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getBasePrice() const override { return 30;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getDifficulty() const override { return 0.1f; }  // 极易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getMovementFrequency() const override { return 2.0f;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bool isSaltwater() const override { return false;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7750" y="7058025"/>
            <a:ext cx="6200775" cy="950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子类如 </a:t>
            </a:r>
            <a:r>
              <a:rPr lang="en-US" sz="20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CarpFish</a:t>
            </a: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通过 </a:t>
            </a:r>
            <a:r>
              <a:rPr lang="en-US" sz="2000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override</a:t>
            </a: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关键字，清晰地实现了基类定义的行为</a:t>
            </a: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确保了多态性，使得游戏能够以统一的方式处理不同种类的鱼</a:t>
            </a: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7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96835" y="149304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界面精美</a:t>
            </a:r>
            <a:endParaRPr lang="en-US" sz="2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3820" y="649089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🎨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角色动画：四方向行走（每方向8帧）、攻击、受</a:t>
            </a:r>
            <a:endParaRPr lang="en-US" sz="16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伤、钓鱼等丰富动作</a:t>
            </a: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。</a:t>
            </a:r>
            <a:endParaRPr lang="en-US" sz="12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1595" y="1188958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🌾</a:t>
            </a: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作物系统：6种作物 × 3个生长阶段 = 18张独特的贴图。</a:t>
            </a:r>
            <a:endParaRPr lang="en-US" sz="12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1595" y="1468477"/>
            <a:ext cx="4380667" cy="362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🛠  </a:t>
            </a: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工具物品：6种工具、6种种子、5种矿物、4种武器、9种鱼类，每种都有专属外观。</a:t>
            </a:r>
            <a:endParaRPr lang="en-US" sz="12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1595" y="1886903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🏠</a:t>
            </a: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场景地图：农场、矿洞、海滩、房屋、谷仓，均采用精心设计的</a:t>
            </a:r>
            <a:endParaRPr lang="en-US" sz="12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TMX地图。</a:t>
            </a:r>
            <a:endParaRPr lang="en-US" sz="12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6835" y="2251512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👥</a:t>
            </a: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NPC角色：商人、铁匠等各有独立贴图与位置，栩栩如生。</a:t>
            </a:r>
            <a:endParaRPr lang="en-US" sz="12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47218" y="149106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UI界面设计</a:t>
            </a:r>
            <a:endParaRPr lang="en-US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39598" y="852289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📦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背包界面：30格整齐排列，物品图标与数量清晰显示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，一目了然。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47218" y="1319133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🏪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市场界面：支持买/卖双模式切换，价格展示直观，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交易便捷。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39598" y="1785342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🌳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技能树界面：4种技能进度条可视化，成长路径清晰。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47218" y="2068671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💬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对话框系统：支持NPC对话及选项按钮，增强互动性。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39598" y="2301835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⚡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能量条：实时显示玩家体力，红色警告提醒，操作反馈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及时。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712206" y="148471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视觉特效</a:t>
            </a:r>
            <a:endParaRPr lang="en-US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712206" y="1007229"/>
            <a:ext cx="452175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🌞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日夜循环：光照颜色渐变，模拟早晨、中午、傍晚、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夜晚的真实变化。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12206" y="1430893"/>
            <a:ext cx="452175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🌧 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天气系统：包含晴天、雨天（粒子效果）、雪天（粒子效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果），丰富场景氛围。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712206" y="1977112"/>
            <a:ext cx="452175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✨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操作反馈：耕地、浇水、收获等操作均有视觉提示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，增加打击感和沉浸感。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82230" y="2751432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1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990" y="2881630"/>
            <a:ext cx="4601210" cy="255397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t="8017"/>
          <a:stretch>
            <a:fillRect/>
          </a:stretch>
        </p:blipFill>
        <p:spPr>
          <a:xfrm>
            <a:off x="52070" y="2853690"/>
            <a:ext cx="4711065" cy="2819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rcRect b="13595"/>
          <a:stretch>
            <a:fillRect/>
          </a:stretch>
        </p:blipFill>
        <p:spPr>
          <a:xfrm>
            <a:off x="9909810" y="2874645"/>
            <a:ext cx="4540250" cy="265557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430" y="5833745"/>
            <a:ext cx="3439160" cy="224472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rcRect t="2700" r="3018" b="5962"/>
          <a:stretch>
            <a:fillRect/>
          </a:stretch>
        </p:blipFill>
        <p:spPr>
          <a:xfrm>
            <a:off x="5219700" y="5598795"/>
            <a:ext cx="3693160" cy="25781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/>
          <a:srcRect t="14635" r="19046"/>
          <a:stretch>
            <a:fillRect/>
          </a:stretch>
        </p:blipFill>
        <p:spPr>
          <a:xfrm>
            <a:off x="9712325" y="5631815"/>
            <a:ext cx="4194175" cy="2503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 21"/>
          <p:cNvSpPr/>
          <p:nvPr/>
        </p:nvSpPr>
        <p:spPr>
          <a:xfrm>
            <a:off x="201890" y="94615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精美动画系统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201890" y="450691"/>
            <a:ext cx="4536638" cy="340162"/>
          </a:xfrm>
          <a:prstGeom prst="roundRect">
            <a:avLst>
              <a:gd name="adj" fmla="val 480114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85139" y="514390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238" y="904200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角色动画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5238" y="1149350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支持四方向行走、工具使用、钓鱼等多种精细动画。例如：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5238" y="1458317"/>
            <a:ext cx="4309943" cy="3073241"/>
          </a:xfrm>
          <a:prstGeom prst="roundRect">
            <a:avLst>
              <a:gd name="adj" fmla="val 5536"/>
            </a:avLst>
          </a:prstGeom>
          <a:solidFill>
            <a:srgbClr val="E9DEC7"/>
          </a:solidFill>
        </p:spPr>
      </p:sp>
      <p:sp>
        <p:nvSpPr>
          <p:cNvPr id="30" name="Shape 28"/>
          <p:cNvSpPr/>
          <p:nvPr/>
        </p:nvSpPr>
        <p:spPr>
          <a:xfrm>
            <a:off x="309642" y="1458317"/>
            <a:ext cx="4321135" cy="3073241"/>
          </a:xfrm>
          <a:prstGeom prst="roundRect">
            <a:avLst>
              <a:gd name="adj" fmla="val 554"/>
            </a:avLst>
          </a:prstGeom>
          <a:solidFill>
            <a:srgbClr val="E9DEC7"/>
          </a:solidFill>
        </p:spPr>
      </p:sp>
      <p:sp>
        <p:nvSpPr>
          <p:cNvPr id="31" name="Text 29"/>
          <p:cNvSpPr/>
          <p:nvPr/>
        </p:nvSpPr>
        <p:spPr>
          <a:xfrm>
            <a:off x="422989" y="1543328"/>
            <a:ext cx="4094440" cy="290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行走动画：上/下/左/右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walkUpAnimation_;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walkDownAnimation_;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walkLeftAnimation_;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walkRightAnimation_;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工具使用动画：锄头/斧头/喷壶/镐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useHoeUpAnimation_;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useAxeUpAnimation_;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useWateringUpAnimation_;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usePickaxeUpAnimation_;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钓鱼动画：抛竿/等待/收杆（3阶段）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Player::startFishingCast();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Player::startFishingWait();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Player::startFishingReel();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51876" y="450691"/>
            <a:ext cx="4536638" cy="340162"/>
          </a:xfrm>
          <a:prstGeom prst="roundRect">
            <a:avLst>
              <a:gd name="adj" fmla="val 480114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35125" y="514390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1600" dirty="0">
              <a:solidFill>
                <a:srgbClr val="FFFFFF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65224" y="904200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作物生长动画</a:t>
            </a:r>
            <a:endParaRPr lang="en-US" sz="20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965224" y="1149350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🌱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3阶段平滑切换（种子→幼苗→成熟）。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965224" y="1370449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⏰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时间驱动自动更新（TimeManager触发）。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65224" y="1619885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战斗动画</a:t>
            </a:r>
            <a:endParaRPr lang="en-US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65224" y="1865035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⚔  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攻击挥剑动画。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65224" y="2086134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💥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受伤闪烁效果（无敌帧）。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965859" y="2307233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💀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怪物死亡消失动画。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501862" y="450691"/>
            <a:ext cx="4536638" cy="340162"/>
          </a:xfrm>
          <a:prstGeom prst="roundRect">
            <a:avLst>
              <a:gd name="adj" fmla="val 480114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85111" y="514390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1600" dirty="0">
              <a:solidFill>
                <a:srgbClr val="000000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615210" y="904200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UI动画</a:t>
            </a:r>
            <a:endParaRPr lang="en-US" sz="20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615210" y="1149350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📂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背包打开/关闭淡入淡出。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615210" y="1409938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📊 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技能进度条平滑增长。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615210" y="1659374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环境动画</a:t>
            </a:r>
            <a:endParaRPr lang="en-US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615210" y="1904524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🌊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水面瓦片。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615210" y="2125623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🌳  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树木砍伐摇晃动画。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615210" y="2346722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01890" y="4583367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201890" y="4665305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不卡顿不崩溃</a:t>
            </a:r>
            <a:endParaRPr lang="en-US" sz="2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01890" y="5117743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F6EBD4"/>
          </a:solidFill>
        </p:spPr>
      </p:sp>
      <p:sp>
        <p:nvSpPr>
          <p:cNvPr id="55" name="Shape 53"/>
          <p:cNvSpPr/>
          <p:nvPr/>
        </p:nvSpPr>
        <p:spPr>
          <a:xfrm>
            <a:off x="201890" y="5102503"/>
            <a:ext cx="6861691" cy="60960"/>
          </a:xfrm>
          <a:prstGeom prst="roundRect">
            <a:avLst>
              <a:gd name="adj" fmla="val 279071"/>
            </a:avLst>
          </a:prstGeom>
          <a:solidFill>
            <a:srgbClr val="626C3B"/>
          </a:solidFill>
        </p:spPr>
      </p:sp>
      <p:sp>
        <p:nvSpPr>
          <p:cNvPr id="56" name="Shape 54"/>
          <p:cNvSpPr/>
          <p:nvPr/>
        </p:nvSpPr>
        <p:spPr>
          <a:xfrm>
            <a:off x="3462595" y="4947722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626C3B"/>
          </a:solidFill>
        </p:spPr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64632" y="5049639"/>
            <a:ext cx="136088" cy="13608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330478" y="5401231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稳定60 FPS</a:t>
            </a:r>
            <a:endParaRPr lang="en-US" sz="20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330478" y="5646380"/>
            <a:ext cx="660451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优化的更新循环和渲染机制，保证游戏帧率始终保持在流畅水平。</a:t>
            </a: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7176929" y="5117743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F6EBD4"/>
          </a:solidFill>
        </p:spPr>
      </p:sp>
      <p:sp>
        <p:nvSpPr>
          <p:cNvPr id="61" name="Shape 58"/>
          <p:cNvSpPr/>
          <p:nvPr/>
        </p:nvSpPr>
        <p:spPr>
          <a:xfrm>
            <a:off x="7176929" y="5102503"/>
            <a:ext cx="6861691" cy="60960"/>
          </a:xfrm>
          <a:prstGeom prst="roundRect">
            <a:avLst>
              <a:gd name="adj" fmla="val 279071"/>
            </a:avLst>
          </a:prstGeom>
          <a:solidFill>
            <a:srgbClr val="83792E"/>
          </a:solidFill>
        </p:spPr>
      </p:sp>
      <p:sp>
        <p:nvSpPr>
          <p:cNvPr id="62" name="Shape 59"/>
          <p:cNvSpPr/>
          <p:nvPr/>
        </p:nvSpPr>
        <p:spPr>
          <a:xfrm>
            <a:off x="10437634" y="4947722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83792E"/>
          </a:solidFill>
        </p:spPr>
      </p:sp>
      <p:pic>
        <p:nvPicPr>
          <p:cNvPr id="6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9670" y="5049639"/>
            <a:ext cx="136088" cy="136088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7305516" y="5401231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场景切换流畅</a:t>
            </a:r>
            <a:endParaRPr lang="en-US" sz="20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65" name="Text 61"/>
          <p:cNvSpPr/>
          <p:nvPr/>
        </p:nvSpPr>
        <p:spPr>
          <a:xfrm>
            <a:off x="7305516" y="5646380"/>
            <a:ext cx="660451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无加载卡顿，玩家可以在不同场景间无缝切换，保持游戏连贯性。</a:t>
            </a: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66" name="Shape 62"/>
          <p:cNvSpPr/>
          <p:nvPr/>
        </p:nvSpPr>
        <p:spPr>
          <a:xfrm>
            <a:off x="201890" y="6239788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F6EBD4"/>
          </a:solidFill>
        </p:spPr>
      </p:sp>
      <p:sp>
        <p:nvSpPr>
          <p:cNvPr id="67" name="Shape 63"/>
          <p:cNvSpPr/>
          <p:nvPr/>
        </p:nvSpPr>
        <p:spPr>
          <a:xfrm>
            <a:off x="201890" y="6224548"/>
            <a:ext cx="6861691" cy="60960"/>
          </a:xfrm>
          <a:prstGeom prst="roundRect">
            <a:avLst>
              <a:gd name="adj" fmla="val 279071"/>
            </a:avLst>
          </a:prstGeom>
          <a:solidFill>
            <a:srgbClr val="E8AF3B"/>
          </a:solidFill>
        </p:spPr>
      </p:sp>
      <p:sp>
        <p:nvSpPr>
          <p:cNvPr id="68" name="Shape 64"/>
          <p:cNvSpPr/>
          <p:nvPr/>
        </p:nvSpPr>
        <p:spPr>
          <a:xfrm>
            <a:off x="3462595" y="606976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E8AF3B"/>
          </a:solidFill>
        </p:spPr>
      </p:sp>
      <p:pic>
        <p:nvPicPr>
          <p:cNvPr id="6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4632" y="6171684"/>
            <a:ext cx="136088" cy="136088"/>
          </a:xfrm>
          <a:prstGeom prst="rect">
            <a:avLst/>
          </a:prstGeom>
        </p:spPr>
      </p:pic>
      <p:sp>
        <p:nvSpPr>
          <p:cNvPr id="70" name="Text 65"/>
          <p:cNvSpPr/>
          <p:nvPr/>
        </p:nvSpPr>
        <p:spPr>
          <a:xfrm>
            <a:off x="330478" y="6523276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背包操作即时</a:t>
            </a:r>
            <a:r>
              <a:rPr lang="en-US" sz="20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响应</a:t>
            </a:r>
            <a:endParaRPr lang="en-US" sz="20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71" name="Text 66"/>
          <p:cNvSpPr/>
          <p:nvPr/>
        </p:nvSpPr>
        <p:spPr>
          <a:xfrm>
            <a:off x="330478" y="6768425"/>
            <a:ext cx="660451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背包开启、物品拖拽、使用等操作均无延迟，提升用户体验。</a:t>
            </a: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72" name="Shape 67"/>
          <p:cNvSpPr/>
          <p:nvPr/>
        </p:nvSpPr>
        <p:spPr>
          <a:xfrm>
            <a:off x="7176929" y="6239788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F6EBD4"/>
          </a:solidFill>
        </p:spPr>
      </p:sp>
      <p:sp>
        <p:nvSpPr>
          <p:cNvPr id="73" name="Shape 68"/>
          <p:cNvSpPr/>
          <p:nvPr/>
        </p:nvSpPr>
        <p:spPr>
          <a:xfrm>
            <a:off x="7176929" y="6224548"/>
            <a:ext cx="6861691" cy="60960"/>
          </a:xfrm>
          <a:prstGeom prst="roundRect">
            <a:avLst>
              <a:gd name="adj" fmla="val 279071"/>
            </a:avLst>
          </a:prstGeom>
          <a:solidFill>
            <a:srgbClr val="CC914D"/>
          </a:solidFill>
        </p:spPr>
      </p:sp>
      <p:sp>
        <p:nvSpPr>
          <p:cNvPr id="74" name="Shape 69"/>
          <p:cNvSpPr/>
          <p:nvPr/>
        </p:nvSpPr>
        <p:spPr>
          <a:xfrm>
            <a:off x="10437634" y="606976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CC914D"/>
          </a:solidFill>
        </p:spPr>
      </p:sp>
      <p:pic>
        <p:nvPicPr>
          <p:cNvPr id="7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39670" y="6171684"/>
            <a:ext cx="136088" cy="136088"/>
          </a:xfrm>
          <a:prstGeom prst="rect">
            <a:avLst/>
          </a:prstGeom>
        </p:spPr>
      </p:pic>
      <p:sp>
        <p:nvSpPr>
          <p:cNvPr id="76" name="Text 70"/>
          <p:cNvSpPr/>
          <p:nvPr/>
        </p:nvSpPr>
        <p:spPr>
          <a:xfrm>
            <a:off x="7305516" y="6523276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大地图无卡顿</a:t>
            </a:r>
            <a:endParaRPr lang="en-US" sz="20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77" name="Text 71"/>
          <p:cNvSpPr/>
          <p:nvPr/>
        </p:nvSpPr>
        <p:spPr>
          <a:xfrm>
            <a:off x="7305516" y="6768425"/>
            <a:ext cx="660451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利用TMX瓦片优化渲染技术，确保大地图探索时无卡顿现象。</a:t>
            </a:r>
            <a:endParaRPr lang="en-US" sz="20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83" y="320953"/>
            <a:ext cx="3390424" cy="4238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游戏功能与玩法展示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89823" y="854234"/>
            <a:ext cx="2712244" cy="338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核心功能与系统实现</a:t>
            </a:r>
            <a:endParaRPr lang="en-US" sz="21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74583" y="1401643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626C3B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89823" y="1416883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626C3B"/>
          </a:solidFill>
        </p:spPr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558" y="1706682"/>
            <a:ext cx="203359" cy="203359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1167884" y="1552496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农场经营系统</a:t>
            </a:r>
            <a:endParaRPr lang="en-US" sz="1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7"/>
            </p:custDataLst>
          </p:nvPr>
        </p:nvSpPr>
        <p:spPr>
          <a:xfrm>
            <a:off x="1167884" y="1845747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体验完整的耕作、种植、浇水、收获循环。6种作物三阶段生长，时间驱动。独特的日夜与天气系统（晴、雨、雪），动态影响作物生长与物价。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8"/>
            </p:custDataLst>
          </p:nvPr>
        </p:nvSpPr>
        <p:spPr>
          <a:xfrm>
            <a:off x="474583" y="2350929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83792E"/>
            </a:solidFill>
            <a:prstDash val="solid"/>
          </a:ln>
        </p:spPr>
      </p:sp>
      <p:sp>
        <p:nvSpPr>
          <p:cNvPr id="10" name="Shape 7"/>
          <p:cNvSpPr/>
          <p:nvPr>
            <p:custDataLst>
              <p:tags r:id="rId9"/>
            </p:custDataLst>
          </p:nvPr>
        </p:nvSpPr>
        <p:spPr>
          <a:xfrm>
            <a:off x="489823" y="2366169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83792E"/>
          </a:solidFill>
        </p:spPr>
      </p:sp>
      <p:pic>
        <p:nvPicPr>
          <p:cNvPr id="11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5558" y="2655967"/>
            <a:ext cx="203359" cy="203359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1167884" y="2426216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探险与战斗系统</a:t>
            </a:r>
            <a:endParaRPr lang="en-US" sz="1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14"/>
            </p:custDataLst>
          </p:nvPr>
        </p:nvSpPr>
        <p:spPr>
          <a:xfrm>
            <a:off x="1167884" y="2715022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深入5层矿洞，挑战史莱姆和僵尸等怪物，使用4种武器进行战斗，并有受伤闪烁和击退效果。挖掘5种矿石，发现随机宝箱甚至许愿池。海滩钓鱼小游戏提供9种鱼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类，受时间、天气和水域影响。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4" name="Shape 10"/>
          <p:cNvSpPr/>
          <p:nvPr>
            <p:custDataLst>
              <p:tags r:id="rId15"/>
            </p:custDataLst>
          </p:nvPr>
        </p:nvSpPr>
        <p:spPr>
          <a:xfrm>
            <a:off x="474583" y="3300214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E8AF3B"/>
            </a:solidFill>
            <a:prstDash val="solid"/>
          </a:ln>
        </p:spPr>
      </p:sp>
      <p:sp>
        <p:nvSpPr>
          <p:cNvPr id="15" name="Shape 11"/>
          <p:cNvSpPr/>
          <p:nvPr>
            <p:custDataLst>
              <p:tags r:id="rId16"/>
            </p:custDataLst>
          </p:nvPr>
        </p:nvSpPr>
        <p:spPr>
          <a:xfrm>
            <a:off x="489823" y="3315454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E8AF3B"/>
          </a:solidFill>
        </p:spPr>
      </p:sp>
      <p:pic>
        <p:nvPicPr>
          <p:cNvPr id="16" name="Image 2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5558" y="3605252"/>
            <a:ext cx="203359" cy="203359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20"/>
            </p:custDataLst>
          </p:nvPr>
        </p:nvSpPr>
        <p:spPr>
          <a:xfrm>
            <a:off x="1167884" y="3343116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经济与社交系统</a:t>
            </a:r>
            <a:endParaRPr lang="en-US" sz="1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8" name="Text 13"/>
          <p:cNvSpPr/>
          <p:nvPr>
            <p:custDataLst>
              <p:tags r:id="rId21"/>
            </p:custDataLst>
          </p:nvPr>
        </p:nvSpPr>
        <p:spPr>
          <a:xfrm>
            <a:off x="1167884" y="3612237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通过买卖作物与矿石积累金币。与商人NPC进行交易，铁匠提供工具修理和武器升级。丰富的NPC对话系统和交互状态机。强大的背包（30格）与可放置的储物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箱（32格）方便物品管理。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9" name="Shape 14"/>
          <p:cNvSpPr/>
          <p:nvPr>
            <p:custDataLst>
              <p:tags r:id="rId22"/>
            </p:custDataLst>
          </p:nvPr>
        </p:nvSpPr>
        <p:spPr>
          <a:xfrm>
            <a:off x="474583" y="4249499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CC914D"/>
            </a:solidFill>
            <a:prstDash val="solid"/>
          </a:ln>
        </p:spPr>
      </p:sp>
      <p:sp>
        <p:nvSpPr>
          <p:cNvPr id="20" name="Shape 15"/>
          <p:cNvSpPr/>
          <p:nvPr>
            <p:custDataLst>
              <p:tags r:id="rId23"/>
            </p:custDataLst>
          </p:nvPr>
        </p:nvSpPr>
        <p:spPr>
          <a:xfrm>
            <a:off x="489823" y="4264739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CC914D"/>
          </a:solidFill>
        </p:spPr>
      </p:sp>
      <p:pic>
        <p:nvPicPr>
          <p:cNvPr id="21" name="Image 3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55558" y="4554538"/>
            <a:ext cx="203359" cy="203359"/>
          </a:xfrm>
          <a:prstGeom prst="rect">
            <a:avLst/>
          </a:prstGeom>
        </p:spPr>
      </p:pic>
      <p:sp>
        <p:nvSpPr>
          <p:cNvPr id="22" name="Text 16"/>
          <p:cNvSpPr/>
          <p:nvPr>
            <p:custDataLst>
              <p:tags r:id="rId27"/>
            </p:custDataLst>
          </p:nvPr>
        </p:nvSpPr>
        <p:spPr>
          <a:xfrm>
            <a:off x="1167884" y="4345742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技能成长系统</a:t>
            </a:r>
            <a:endParaRPr lang="en-US" sz="1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23" name="Text 17"/>
          <p:cNvSpPr/>
          <p:nvPr>
            <p:custDataLst>
              <p:tags r:id="rId28"/>
            </p:custDataLst>
          </p:nvPr>
        </p:nvSpPr>
        <p:spPr>
          <a:xfrm>
            <a:off x="1167884" y="4561523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四大技能（农业、采矿、钓鱼、烹饪）伴随玩家行动而增长。每级（1-5级）提升带来不同收益，如额外产出、体力消耗减少、鱼类价格提升等。通过技能树UI清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晰展示成长进度。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24" name="Shape 18"/>
          <p:cNvSpPr/>
          <p:nvPr>
            <p:custDataLst>
              <p:tags r:id="rId29"/>
            </p:custDataLst>
          </p:nvPr>
        </p:nvSpPr>
        <p:spPr>
          <a:xfrm>
            <a:off x="474583" y="5198785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626C3B"/>
            </a:solidFill>
            <a:prstDash val="solid"/>
          </a:ln>
        </p:spPr>
      </p:sp>
      <p:sp>
        <p:nvSpPr>
          <p:cNvPr id="25" name="Shape 19"/>
          <p:cNvSpPr/>
          <p:nvPr>
            <p:custDataLst>
              <p:tags r:id="rId30"/>
            </p:custDataLst>
          </p:nvPr>
        </p:nvSpPr>
        <p:spPr>
          <a:xfrm>
            <a:off x="489823" y="5214025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626C3B"/>
          </a:solidFill>
        </p:spPr>
      </p:sp>
      <p:pic>
        <p:nvPicPr>
          <p:cNvPr id="26" name="Image 4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55558" y="5503823"/>
            <a:ext cx="203359" cy="203359"/>
          </a:xfrm>
          <a:prstGeom prst="rect">
            <a:avLst/>
          </a:prstGeom>
        </p:spPr>
      </p:pic>
      <p:sp>
        <p:nvSpPr>
          <p:cNvPr id="27" name="Text 20"/>
          <p:cNvSpPr/>
          <p:nvPr>
            <p:custDataLst>
              <p:tags r:id="rId34"/>
            </p:custDataLst>
          </p:nvPr>
        </p:nvSpPr>
        <p:spPr>
          <a:xfrm>
            <a:off x="1167884" y="5349637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生存与能量系统</a:t>
            </a:r>
            <a:endParaRPr lang="en-US" sz="1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28" name="Text 21"/>
          <p:cNvSpPr/>
          <p:nvPr>
            <p:custDataLst>
              <p:tags r:id="rId35"/>
            </p:custDataLst>
          </p:nvPr>
        </p:nvSpPr>
        <p:spPr>
          <a:xfrm>
            <a:off x="1167884" y="5642888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工作、战斗、挖矿均消耗能量，通过进食和睡觉恢复。能量低于20%进入疲惫状态，影响移动速度和行动。HP系统，受伤扣血，矿洞死亡将受到物品与金币惩罚。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29" name="Shape 22"/>
          <p:cNvSpPr/>
          <p:nvPr>
            <p:custDataLst>
              <p:tags r:id="rId36"/>
            </p:custDataLst>
          </p:nvPr>
        </p:nvSpPr>
        <p:spPr>
          <a:xfrm>
            <a:off x="474583" y="6148070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83792E"/>
            </a:solidFill>
            <a:prstDash val="solid"/>
          </a:ln>
        </p:spPr>
      </p:sp>
      <p:sp>
        <p:nvSpPr>
          <p:cNvPr id="30" name="Shape 23"/>
          <p:cNvSpPr/>
          <p:nvPr>
            <p:custDataLst>
              <p:tags r:id="rId37"/>
            </p:custDataLst>
          </p:nvPr>
        </p:nvSpPr>
        <p:spPr>
          <a:xfrm>
            <a:off x="489823" y="6163310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83792E"/>
          </a:solidFill>
        </p:spPr>
      </p:sp>
      <p:pic>
        <p:nvPicPr>
          <p:cNvPr id="31" name="Image 5" descr="preencoded.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55558" y="6453108"/>
            <a:ext cx="203359" cy="203359"/>
          </a:xfrm>
          <a:prstGeom prst="rect">
            <a:avLst/>
          </a:prstGeom>
        </p:spPr>
      </p:pic>
      <p:sp>
        <p:nvSpPr>
          <p:cNvPr id="32" name="Text 24"/>
          <p:cNvSpPr/>
          <p:nvPr>
            <p:custDataLst>
              <p:tags r:id="rId41"/>
            </p:custDataLst>
          </p:nvPr>
        </p:nvSpPr>
        <p:spPr>
          <a:xfrm>
            <a:off x="1167884" y="6220817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场景与存档系统</a:t>
            </a:r>
            <a:endParaRPr lang="en-US" sz="1400" b="1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33" name="Text 25"/>
          <p:cNvSpPr/>
          <p:nvPr>
            <p:custDataLst>
              <p:tags r:id="rId42"/>
            </p:custDataLst>
          </p:nvPr>
        </p:nvSpPr>
        <p:spPr>
          <a:xfrm>
            <a:off x="1167884" y="6500098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包含农场、矿洞、海滩、房屋、</a:t>
            </a:r>
            <a:r>
              <a:rPr lang="zh-CN" alt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牛棚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5个独立场景，通过传送门和电梯无缝切换。完整的JSON序列化存档系统，自动保存玩家位置、状态、背包、农田、储物箱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、技能和时间，确保游戏进度不丢失。</a:t>
            </a:r>
            <a:endParaRPr lang="en-US" sz="1400" b="1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3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2337" y="609362"/>
            <a:ext cx="6884670" cy="537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丰富的动画系统：生动演绎游戏世界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16942" y="1215787"/>
            <a:ext cx="13425726" cy="275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《星露谷物语》项目精心打造了一个多维度的动画系统，涵盖角色、环境及界面，旨在为玩家带来沉浸且充满活力的游戏体验。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6942" y="1753643"/>
            <a:ext cx="13425726" cy="29051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16942" y="2046049"/>
            <a:ext cx="2151578" cy="2688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chemeClr val="accent6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角色动态与交互</a:t>
            </a:r>
            <a:endParaRPr lang="en-US" sz="2400" dirty="0">
              <a:solidFill>
                <a:schemeClr val="accent6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6942" y="2486938"/>
            <a:ext cx="4149209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移动动画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8帧平滑行走，支持四方向。方向切换流畅，停止时自动播放IDLE帧。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6942" y="3373239"/>
            <a:ext cx="4149209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工具使用动画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四种工具（锄头、斧头、喷壶、镐）在四个方向上的专属动画，如挥动锄头开垦、斧头砍树等。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6942" y="4495125"/>
            <a:ext cx="4149209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钓鱼动画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三阶段钓鱼（抛竿、等待、收杆）在四个方向上的独特动画。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6942" y="5558592"/>
            <a:ext cx="4149209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战斗与受伤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攻击挥剑、受伤闪烁（无敌帧）、击退效果，怪物（史莱姆、僵尸）也有各自的生动动画。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93665" y="2045970"/>
            <a:ext cx="2151380" cy="268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chemeClr val="accent6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环境演变与天气</a:t>
            </a:r>
            <a:endParaRPr lang="en-US" sz="2400" dirty="0">
              <a:solidFill>
                <a:schemeClr val="accent6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93586" y="2486938"/>
            <a:ext cx="4287560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作物生长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6种作物各有4个生长阶段，共24张独立贴图，每日自动更新，实现平滑过渡。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93586" y="3373239"/>
            <a:ext cx="4287560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天气粒子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雨滴和雪花粒子系统，动态模拟雨雪天气，增强氛围感。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93586" y="4388445"/>
            <a:ext cx="4287560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日夜光照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日夜循环通过光照颜色渐变呈现，模拟早晨、中午、傍晚、夜晚的真实变化。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08580" y="2046049"/>
            <a:ext cx="2151578" cy="2688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chemeClr val="accent6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界面反馈与特殊效果</a:t>
            </a:r>
            <a:endParaRPr lang="en-US" sz="2400" dirty="0">
              <a:solidFill>
                <a:schemeClr val="accent6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08580" y="2462808"/>
            <a:ext cx="4149209" cy="11015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UI动画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背包开合淡入淡出、对话框缩放弹出、物品拖拽实时跟随、按钮悬停反馈、技能升级进度条平滑增长。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08580" y="3776901"/>
            <a:ext cx="4149209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场景切换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传送门（淡出旧场景，淡入新场景）和电梯（平滑过渡）动画，实现无缝连接。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08580" y="4898787"/>
            <a:ext cx="4149209" cy="11015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SzPct val="100000"/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其他特效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砍树时的树木摇晃与倒下、木材飞出，宝箱开盖，金币抛物线飞入，矿石采集粒子，能量条和工具耐久度更新动画。</a:t>
            </a:r>
            <a:endParaRPr lang="en-US" sz="16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2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3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4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5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6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7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8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9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10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11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12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3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4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5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6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7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8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9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20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1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2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3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4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5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6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27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28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29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0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1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2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3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4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5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6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7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8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9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0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1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2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3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4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5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6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7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8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9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0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1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2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3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4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5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11288</Words>
  <Application>WPS 演示</Application>
  <PresentationFormat>On-screen Show (16:9)</PresentationFormat>
  <Paragraphs>564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8" baseType="lpstr">
      <vt:lpstr>Arial</vt:lpstr>
      <vt:lpstr>宋体</vt:lpstr>
      <vt:lpstr>Wingdings</vt:lpstr>
      <vt:lpstr>Arial</vt:lpstr>
      <vt:lpstr>Times New Roman</vt:lpstr>
      <vt:lpstr>黑体</vt:lpstr>
      <vt:lpstr>Brygada 1918 Semi Bold</vt:lpstr>
      <vt:lpstr>Brygada 1918 Semi Bold</vt:lpstr>
      <vt:lpstr>Brygada 1918 Semi Bold</vt:lpstr>
      <vt:lpstr>Consolas</vt:lpstr>
      <vt:lpstr>Consolas</vt:lpstr>
      <vt:lpstr>Consolas</vt:lpstr>
      <vt:lpstr>Brygada 1918</vt:lpstr>
      <vt:lpstr>Brygada 1918</vt:lpstr>
      <vt:lpstr>Brygada 1918</vt:lpstr>
      <vt:lpstr>微软雅黑</vt:lpstr>
      <vt:lpstr>Arial Unicode MS</vt:lpstr>
      <vt:lpstr>Calibri</vt:lpstr>
      <vt:lpstr>等线</vt:lpstr>
      <vt:lpstr>Calibri Light</vt:lpstr>
      <vt:lpstr>Wingdings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臧真宇</cp:lastModifiedBy>
  <cp:revision>20</cp:revision>
  <dcterms:created xsi:type="dcterms:W3CDTF">2025-12-30T07:53:00Z</dcterms:created>
  <dcterms:modified xsi:type="dcterms:W3CDTF">2025-12-30T17:49:33Z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6A4309BB009447189FAE5572F573010F_13</vt:lpwstr>
  </property>
  <property fmtid="{D5CDD505-2E9C-101B-9397-08002B2CF9AE}" pid="3" name="KSOProductBuildVer">
    <vt:lpwstr>2052-12.1.0.24034</vt:lpwstr>
  </property>
</Properties>
</file>