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media/image15.svg" ContentType="image/svg+xml"/>
  <Override PartName="/ppt/media/image17.svg" ContentType="image/svg+xml"/>
  <Override PartName="/ppt/media/image19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60" r:id="rId3"/>
  </p:sldMasterIdLst>
  <p:notesMasterIdLst>
    <p:notesMasterId r:id="rId6"/>
  </p:notesMasterIdLst>
  <p:sldIdLst>
    <p:sldId id="266" r:id="rId4"/>
    <p:sldId id="257" r:id="rId5"/>
    <p:sldId id="258" r:id="rId7"/>
    <p:sldId id="259" r:id="rId8"/>
    <p:sldId id="260" r:id="rId9"/>
    <p:sldId id="261" r:id="rId10"/>
    <p:sldId id="264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14630400" cy="8229600"/>
  <p:notesSz cx="8229600" cy="14630400"/>
  <p:embeddedFontLst>
    <p:embeddedFont>
      <p:font typeface="黑体" panose="02010609060101010101" charset="-122"/>
      <p:regular r:id="rId23"/>
    </p:embeddedFont>
    <p:embeddedFont>
      <p:font typeface="Brygada 1918 Semi Bold" pitchFamily="34" charset="0"/>
      <p:regular r:id="rId24"/>
    </p:embeddedFont>
    <p:embeddedFont>
      <p:font typeface="Brygada 1918 Semi Bold" pitchFamily="34" charset="-122"/>
      <p:regular r:id="rId25"/>
    </p:embeddedFont>
    <p:embeddedFont>
      <p:font typeface="Brygada 1918 Semi Bold" pitchFamily="34" charset="-120"/>
      <p:regular r:id="rId26"/>
    </p:embeddedFont>
    <p:embeddedFont>
      <p:font typeface="Consolas" panose="020B0609020204030204" pitchFamily="34" charset="0"/>
      <p:regular r:id="rId27"/>
      <p:bold r:id="rId28"/>
      <p:italic r:id="rId29"/>
      <p:boldItalic r:id="rId30"/>
    </p:embeddedFont>
    <p:embeddedFont>
      <p:font typeface="Consolas" panose="020B0609020204030204" pitchFamily="34" charset="-122"/>
      <p:regular r:id="rId31"/>
    </p:embeddedFont>
    <p:embeddedFont>
      <p:font typeface="Consolas" panose="020B0609020204030204" pitchFamily="34" charset="-120"/>
      <p:regular r:id="rId32"/>
    </p:embeddedFont>
    <p:embeddedFont>
      <p:font typeface="Brygada 1918" pitchFamily="34" charset="0"/>
      <p:bold r:id="rId33"/>
    </p:embeddedFont>
    <p:embeddedFont>
      <p:font typeface="Brygada 1918" pitchFamily="34" charset="-122"/>
      <p:bold r:id="rId34"/>
    </p:embeddedFont>
    <p:embeddedFont>
      <p:font typeface="Brygada 1918" pitchFamily="34" charset="-120"/>
      <p:bold r:id="rId35"/>
    </p:embeddedFont>
    <p:embeddedFont>
      <p:font typeface="Calibri" panose="020F0502020204030204" charset="0"/>
      <p:regular r:id="rId36"/>
      <p:bold r:id="rId37"/>
      <p:italic r:id="rId38"/>
      <p:boldItalic r:id="rId3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9" Type="http://schemas.openxmlformats.org/officeDocument/2006/relationships/font" Target="fonts/font17.fntdata"/><Relationship Id="rId38" Type="http://schemas.openxmlformats.org/officeDocument/2006/relationships/font" Target="fonts/font16.fntdata"/><Relationship Id="rId37" Type="http://schemas.openxmlformats.org/officeDocument/2006/relationships/font" Target="fonts/font15.fntdata"/><Relationship Id="rId36" Type="http://schemas.openxmlformats.org/officeDocument/2006/relationships/font" Target="fonts/font14.fntdata"/><Relationship Id="rId35" Type="http://schemas.openxmlformats.org/officeDocument/2006/relationships/font" Target="fonts/font13.fntdata"/><Relationship Id="rId34" Type="http://schemas.openxmlformats.org/officeDocument/2006/relationships/font" Target="fonts/font12.fntdata"/><Relationship Id="rId33" Type="http://schemas.openxmlformats.org/officeDocument/2006/relationships/font" Target="fonts/font11.fntdata"/><Relationship Id="rId32" Type="http://schemas.openxmlformats.org/officeDocument/2006/relationships/font" Target="fonts/font10.fntdata"/><Relationship Id="rId31" Type="http://schemas.openxmlformats.org/officeDocument/2006/relationships/font" Target="fonts/font9.fntdata"/><Relationship Id="rId30" Type="http://schemas.openxmlformats.org/officeDocument/2006/relationships/font" Target="fonts/font8.fntdata"/><Relationship Id="rId3" Type="http://schemas.openxmlformats.org/officeDocument/2006/relationships/slideMaster" Target="slideMasters/slideMaster2.xml"/><Relationship Id="rId29" Type="http://schemas.openxmlformats.org/officeDocument/2006/relationships/font" Target="fonts/font7.fntdata"/><Relationship Id="rId28" Type="http://schemas.openxmlformats.org/officeDocument/2006/relationships/font" Target="fonts/font6.fntdata"/><Relationship Id="rId27" Type="http://schemas.openxmlformats.org/officeDocument/2006/relationships/font" Target="fonts/font5.fntdata"/><Relationship Id="rId26" Type="http://schemas.openxmlformats.org/officeDocument/2006/relationships/font" Target="fonts/font4.fntdata"/><Relationship Id="rId25" Type="http://schemas.openxmlformats.org/officeDocument/2006/relationships/font" Target="fonts/font3.fntdata"/><Relationship Id="rId24" Type="http://schemas.openxmlformats.org/officeDocument/2006/relationships/font" Target="fonts/font2.fntdata"/><Relationship Id="rId23" Type="http://schemas.openxmlformats.org/officeDocument/2006/relationships/font" Target="fonts/font1.fntdata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C064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EBD4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6.xml"/><Relationship Id="rId12" Type="http://schemas.openxmlformats.org/officeDocument/2006/relationships/image" Target="../media/image4.png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8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0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4.png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image" Target="../media/image33.svg"/><Relationship Id="rId7" Type="http://schemas.openxmlformats.org/officeDocument/2006/relationships/image" Target="../media/image32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image" Target="../media/image35.svg"/><Relationship Id="rId45" Type="http://schemas.openxmlformats.org/officeDocument/2006/relationships/notesSlide" Target="../notesSlides/notesSlide12.xml"/><Relationship Id="rId44" Type="http://schemas.openxmlformats.org/officeDocument/2006/relationships/slideLayout" Target="../slideLayouts/slideLayout2.xml"/><Relationship Id="rId43" Type="http://schemas.openxmlformats.org/officeDocument/2006/relationships/image" Target="../media/image4.png"/><Relationship Id="rId42" Type="http://schemas.openxmlformats.org/officeDocument/2006/relationships/tags" Target="../tags/tag47.xml"/><Relationship Id="rId41" Type="http://schemas.openxmlformats.org/officeDocument/2006/relationships/tags" Target="../tags/tag46.xml"/><Relationship Id="rId40" Type="http://schemas.openxmlformats.org/officeDocument/2006/relationships/image" Target="../media/image45.svg"/><Relationship Id="rId4" Type="http://schemas.openxmlformats.org/officeDocument/2006/relationships/image" Target="../media/image34.png"/><Relationship Id="rId39" Type="http://schemas.openxmlformats.org/officeDocument/2006/relationships/image" Target="../media/image44.png"/><Relationship Id="rId38" Type="http://schemas.openxmlformats.org/officeDocument/2006/relationships/tags" Target="../tags/tag45.xml"/><Relationship Id="rId37" Type="http://schemas.openxmlformats.org/officeDocument/2006/relationships/tags" Target="../tags/tag44.xml"/><Relationship Id="rId36" Type="http://schemas.openxmlformats.org/officeDocument/2006/relationships/tags" Target="../tags/tag43.xml"/><Relationship Id="rId35" Type="http://schemas.openxmlformats.org/officeDocument/2006/relationships/tags" Target="../tags/tag42.xml"/><Relationship Id="rId34" Type="http://schemas.openxmlformats.org/officeDocument/2006/relationships/tags" Target="../tags/tag41.xml"/><Relationship Id="rId33" Type="http://schemas.openxmlformats.org/officeDocument/2006/relationships/image" Target="../media/image43.svg"/><Relationship Id="rId32" Type="http://schemas.openxmlformats.org/officeDocument/2006/relationships/image" Target="../media/image42.png"/><Relationship Id="rId31" Type="http://schemas.openxmlformats.org/officeDocument/2006/relationships/tags" Target="../tags/tag40.xml"/><Relationship Id="rId30" Type="http://schemas.openxmlformats.org/officeDocument/2006/relationships/tags" Target="../tags/tag39.xml"/><Relationship Id="rId3" Type="http://schemas.openxmlformats.org/officeDocument/2006/relationships/tags" Target="../tags/tag20.xml"/><Relationship Id="rId29" Type="http://schemas.openxmlformats.org/officeDocument/2006/relationships/tags" Target="../tags/tag38.xml"/><Relationship Id="rId28" Type="http://schemas.openxmlformats.org/officeDocument/2006/relationships/tags" Target="../tags/tag37.xml"/><Relationship Id="rId27" Type="http://schemas.openxmlformats.org/officeDocument/2006/relationships/tags" Target="../tags/tag36.xml"/><Relationship Id="rId26" Type="http://schemas.openxmlformats.org/officeDocument/2006/relationships/image" Target="../media/image41.svg"/><Relationship Id="rId25" Type="http://schemas.openxmlformats.org/officeDocument/2006/relationships/image" Target="../media/image40.png"/><Relationship Id="rId24" Type="http://schemas.openxmlformats.org/officeDocument/2006/relationships/tags" Target="../tags/tag35.xml"/><Relationship Id="rId23" Type="http://schemas.openxmlformats.org/officeDocument/2006/relationships/tags" Target="../tags/tag34.xml"/><Relationship Id="rId22" Type="http://schemas.openxmlformats.org/officeDocument/2006/relationships/tags" Target="../tags/tag33.xml"/><Relationship Id="rId21" Type="http://schemas.openxmlformats.org/officeDocument/2006/relationships/tags" Target="../tags/tag32.xml"/><Relationship Id="rId20" Type="http://schemas.openxmlformats.org/officeDocument/2006/relationships/tags" Target="../tags/tag31.xml"/><Relationship Id="rId2" Type="http://schemas.openxmlformats.org/officeDocument/2006/relationships/tags" Target="../tags/tag19.xml"/><Relationship Id="rId19" Type="http://schemas.openxmlformats.org/officeDocument/2006/relationships/image" Target="../media/image39.svg"/><Relationship Id="rId18" Type="http://schemas.openxmlformats.org/officeDocument/2006/relationships/image" Target="../media/image38.png"/><Relationship Id="rId17" Type="http://schemas.openxmlformats.org/officeDocument/2006/relationships/tags" Target="../tags/tag30.xml"/><Relationship Id="rId16" Type="http://schemas.openxmlformats.org/officeDocument/2006/relationships/tags" Target="../tags/tag29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image" Target="../media/image37.svg"/><Relationship Id="rId11" Type="http://schemas.openxmlformats.org/officeDocument/2006/relationships/image" Target="../media/image36.png"/><Relationship Id="rId10" Type="http://schemas.openxmlformats.org/officeDocument/2006/relationships/tags" Target="../tags/tag25.xml"/><Relationship Id="rId1" Type="http://schemas.openxmlformats.org/officeDocument/2006/relationships/tags" Target="../tags/tag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600000">
            <a:off x="0" y="0"/>
            <a:ext cx="17475200" cy="9753600"/>
          </a:xfrm>
          <a:prstGeom prst="rect">
            <a:avLst/>
          </a:prstGeom>
        </p:spPr>
      </p:pic>
      <p:sp>
        <p:nvSpPr>
          <p:cNvPr id="4" name="textbox 4"/>
          <p:cNvSpPr/>
          <p:nvPr/>
        </p:nvSpPr>
        <p:spPr>
          <a:xfrm>
            <a:off x="577787" y="1234499"/>
            <a:ext cx="16798289" cy="843915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5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0850" algn="l" rtl="0" eaLnBrk="0">
              <a:lnSpc>
                <a:spcPct val="92000"/>
              </a:lnSpc>
            </a:pPr>
            <a:r>
              <a:rPr lang="en-US" sz="5800" b="1" kern="0" spc="0" dirty="0">
                <a:solidFill>
                  <a:srgbClr val="00000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             </a:t>
            </a:r>
            <a:r>
              <a:rPr sz="5800" b="1" kern="0" spc="0" dirty="0">
                <a:solidFill>
                  <a:srgbClr val="00000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StrawValley</a:t>
            </a:r>
            <a:r>
              <a:rPr lang="en-US" sz="5800" b="1" kern="0" spc="0" dirty="0">
                <a:solidFill>
                  <a:srgbClr val="00000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</a:t>
            </a:r>
            <a:r>
              <a:rPr lang="zh-CN" sz="5800" b="1" kern="0" spc="-440" dirty="0">
                <a:solidFill>
                  <a:srgbClr val="000000">
                    <a:alpha val="100000"/>
                  </a:srgbClr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程序设计</a:t>
            </a:r>
            <a:r>
              <a:rPr sz="5800" b="1" kern="0" spc="0" dirty="0">
                <a:solidFill>
                  <a:srgbClr val="000000">
                    <a:alpha val="100000"/>
                  </a:srgb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项目</a:t>
            </a:r>
            <a:r>
              <a:rPr lang="zh-CN" sz="5800" b="1" kern="0" spc="0" dirty="0">
                <a:solidFill>
                  <a:srgbClr val="000000">
                    <a:alpha val="100000"/>
                  </a:srgbClr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汇报</a:t>
            </a:r>
            <a:endParaRPr sz="58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4018280" algn="l" rtl="0" eaLnBrk="0">
              <a:lnSpc>
                <a:spcPct val="97000"/>
              </a:lnSpc>
              <a:spcBef>
                <a:spcPts val="1615"/>
              </a:spcBef>
            </a:pPr>
            <a:r>
              <a:rPr sz="2800" b="1" kern="0" spc="1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基于</a:t>
            </a:r>
            <a:r>
              <a:rPr sz="2800" b="1" kern="0" spc="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Cocos</a:t>
            </a:r>
            <a:r>
              <a:rPr sz="2800" b="1" kern="0" spc="15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2d-x</a:t>
            </a:r>
            <a:r>
              <a:rPr sz="2800" b="1" kern="0" spc="15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打造的高自</a:t>
            </a:r>
            <a:r>
              <a:rPr sz="2800" b="1" kern="0" spc="14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由度农场模拟经营游戏</a:t>
            </a:r>
            <a:endParaRPr sz="2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2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98450" algn="l" rtl="0" eaLnBrk="0">
              <a:lnSpc>
                <a:spcPct val="89000"/>
              </a:lnSpc>
              <a:spcBef>
                <a:spcPts val="545"/>
              </a:spcBef>
              <a:tabLst>
                <a:tab pos="390525" algn="l"/>
              </a:tabLst>
            </a:pPr>
            <a:r>
              <a:rPr sz="1800" kern="0" spc="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	</a:t>
            </a:r>
            <a:r>
              <a:rPr sz="1800" b="1" kern="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汇报小组：第58小组|</a:t>
            </a:r>
            <a:r>
              <a:rPr sz="1800" kern="0" spc="-49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sz="1800" b="1" kern="0" spc="10" dirty="0">
                <a:solidFill>
                  <a:srgbClr val="000000">
                    <a:alpha val="100000"/>
                  </a:srgbClr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日期：2025年12月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algn="r" rtl="0" eaLnBrk="0">
              <a:lnSpc>
                <a:spcPct val="80000"/>
              </a:lnSpc>
              <a:spcBef>
                <a:spcPts val="10"/>
              </a:spcBef>
            </a:pPr>
            <a:r>
              <a:rPr sz="1400" b="1" kern="0" spc="-1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r>
              <a:rPr sz="1400" b="1" kern="0" spc="10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sz="1400" b="1" kern="0" spc="-1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Notebook</a:t>
            </a:r>
            <a:r>
              <a:rPr sz="1400" b="1" kern="0" spc="-20" dirty="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LM</a:t>
            </a:r>
            <a:endParaRPr sz="1400" dirty="0"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590487" y="9144000"/>
            <a:ext cx="285894" cy="311139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1561" t="9953" b="10420"/>
          <a:stretch>
            <a:fillRect/>
          </a:stretch>
        </p:blipFill>
        <p:spPr>
          <a:xfrm>
            <a:off x="15513050" y="9023350"/>
            <a:ext cx="1962150" cy="650240"/>
          </a:xfrm>
          <a:prstGeom prst="rect">
            <a:avLst/>
          </a:prstGeom>
        </p:spPr>
      </p:pic>
      <p:pic>
        <p:nvPicPr>
          <p:cNvPr id="5" name="图片 4" descr="17671102967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45" y="3030855"/>
            <a:ext cx="15448280" cy="5743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91344" y="521494"/>
            <a:ext cx="4537948" cy="4507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GameScene：游戏主控制器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991344" y="1029891"/>
            <a:ext cx="3341727" cy="36052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核心场景类：</a:t>
            </a:r>
            <a:r>
              <a:rPr lang="en-US" sz="2250" dirty="0">
                <a:solidFill>
                  <a:srgbClr val="626C3B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GameScene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5991344" y="1606748"/>
            <a:ext cx="8134112" cy="23848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GameScene</a:t>
            </a:r>
            <a:r>
              <a:rPr lang="en-US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继承自 </a:t>
            </a:r>
            <a:r>
              <a:rPr lang="en-US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cocos2d::Scene</a:t>
            </a:r>
            <a:r>
              <a:rPr lang="en-US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，负责协调游戏内各个系统的运作与状态流转</a:t>
            </a:r>
            <a:endParaRPr lang="en-US" b="1" dirty="0"/>
          </a:p>
        </p:txBody>
      </p:sp>
      <p:sp>
        <p:nvSpPr>
          <p:cNvPr id="6" name="Shape 3"/>
          <p:cNvSpPr/>
          <p:nvPr/>
        </p:nvSpPr>
        <p:spPr>
          <a:xfrm>
            <a:off x="5991344" y="2007513"/>
            <a:ext cx="324564" cy="324564"/>
          </a:xfrm>
          <a:prstGeom prst="roundRect">
            <a:avLst>
              <a:gd name="adj" fmla="val 66677"/>
            </a:avLst>
          </a:prstGeom>
          <a:solidFill>
            <a:srgbClr val="626C3B"/>
          </a:solidFill>
          <a:ln w="7620">
            <a:solidFill>
              <a:srgbClr val="7B85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45458" y="2034540"/>
            <a:ext cx="216337" cy="270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60093" y="2057043"/>
            <a:ext cx="1803321" cy="22538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组件组合（组合模式）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60093" y="2444710"/>
            <a:ext cx="7665363" cy="2755702"/>
          </a:xfrm>
          <a:prstGeom prst="roundRect">
            <a:avLst>
              <a:gd name="adj" fmla="val 7853"/>
            </a:avLst>
          </a:prstGeom>
          <a:solidFill>
            <a:srgbClr val="E9DEC7"/>
          </a:solidFill>
        </p:spPr>
      </p:sp>
      <p:sp>
        <p:nvSpPr>
          <p:cNvPr id="10" name="Shape 7"/>
          <p:cNvSpPr/>
          <p:nvPr/>
        </p:nvSpPr>
        <p:spPr>
          <a:xfrm>
            <a:off x="6452949" y="2444710"/>
            <a:ext cx="7679650" cy="2755702"/>
          </a:xfrm>
          <a:prstGeom prst="roundRect">
            <a:avLst>
              <a:gd name="adj" fmla="val 785"/>
            </a:avLst>
          </a:prstGeom>
          <a:solidFill>
            <a:srgbClr val="E9DEC7"/>
          </a:solidFill>
        </p:spPr>
      </p:sp>
      <p:sp>
        <p:nvSpPr>
          <p:cNvPr id="11" name="Text 8"/>
          <p:cNvSpPr/>
          <p:nvPr/>
        </p:nvSpPr>
        <p:spPr>
          <a:xfrm>
            <a:off x="6597134" y="2552819"/>
            <a:ext cx="7391281" cy="25394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GameScene : public cocos2d::Scene {
private:
  MapLayer* mapLayer_;       // 地图
  Player* player_;           // 玩家
  FarmManager* farmManager_; // 农田管理
  InventoryManager* inventory_; // 背包（单例）
  WeatherManager* weatherManager_; // 天气
  MarketUI* marketUI_;       // 交易UI
  SkillTreeUI* skillUI_;     // 技能UI
};
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91344" y="5488900"/>
            <a:ext cx="324564" cy="324564"/>
          </a:xfrm>
          <a:prstGeom prst="roundRect">
            <a:avLst>
              <a:gd name="adj" fmla="val 66677"/>
            </a:avLst>
          </a:prstGeom>
          <a:solidFill>
            <a:srgbClr val="83792E"/>
          </a:solidFill>
          <a:ln w="7620">
            <a:solidFill>
              <a:srgbClr val="9C924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45458" y="5515928"/>
            <a:ext cx="216337" cy="27051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60093" y="5538430"/>
            <a:ext cx="1803321" cy="22538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职责与设计亮点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60093" y="5850374"/>
            <a:ext cx="7665363" cy="2308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协调各系统运作，如农田、背包、天气等。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24838" y="6131719"/>
            <a:ext cx="7665363" cy="2308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457200" algn="l">
              <a:lnSpc>
                <a:spcPts val="1800"/>
              </a:lnSpc>
              <a:buSzPct val="100000"/>
              <a:buNone/>
            </a:pPr>
            <a:r>
              <a:rPr lang="en-US" sz="11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处理场景切换逻辑（农场 </a:t>
            </a:r>
            <a:r>
              <a:rPr lang="en-US" sz="110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↔</a:t>
            </a:r>
            <a:r>
              <a:rPr lang="en-US" sz="11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矿洞 </a:t>
            </a:r>
            <a:r>
              <a:rPr lang="en-US" sz="110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↔</a:t>
            </a:r>
            <a:r>
              <a:rPr lang="en-US" sz="11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海滩）。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60093" y="6413063"/>
            <a:ext cx="7665363" cy="2308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管理 NPC 交互状态机，确保对话与行为的流畅。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60093" y="6694408"/>
            <a:ext cx="7665363" cy="2308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1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驱动时间、天气、UI 更新，保持游戏世界的动态性。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1973" y="6922453"/>
            <a:ext cx="7665363" cy="620435"/>
          </a:xfrm>
          <a:prstGeom prst="roundRect">
            <a:avLst>
              <a:gd name="adj" fmla="val 34880"/>
            </a:avLst>
          </a:prstGeom>
          <a:solidFill>
            <a:srgbClr val="DFE4CE"/>
          </a:solidFill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158" y="7136408"/>
            <a:ext cx="180261" cy="144185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730603" y="7102594"/>
            <a:ext cx="7052548" cy="23848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设计亮点：</a:t>
            </a:r>
            <a:r>
              <a:rPr lang="en-US" sz="1100" dirty="0">
                <a:solidFill>
                  <a:srgbClr val="000000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GameScene</a:t>
            </a:r>
            <a:r>
              <a:rPr lang="en-US" sz="110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仅负责</a:t>
            </a:r>
            <a:r>
              <a:rPr lang="en-US" sz="1100" b="1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协调</a:t>
            </a:r>
            <a:r>
              <a:rPr lang="en-US" sz="110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，不包含具体业务逻辑，实现了高内聚低耦合。</a:t>
            </a:r>
            <a:endParaRPr lang="en-US" sz="1100" dirty="0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rcRect l="1561" t="9953" b="10420"/>
          <a:stretch>
            <a:fillRect/>
          </a:stretch>
        </p:blipFill>
        <p:spPr>
          <a:xfrm>
            <a:off x="12846050" y="7680325"/>
            <a:ext cx="1656715" cy="549275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rcRect l="1561" t="9953" b="10420"/>
          <a:stretch>
            <a:fillRect/>
          </a:stretch>
        </p:blipFill>
        <p:spPr>
          <a:xfrm>
            <a:off x="12668250" y="7579360"/>
            <a:ext cx="1962150" cy="650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31244" y="450771"/>
            <a:ext cx="3995618" cy="38516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Player：角色控制与状态管理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31244" y="885230"/>
            <a:ext cx="2464713" cy="30801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玩家类：</a:t>
            </a:r>
            <a:r>
              <a:rPr lang="en-US" sz="2400" dirty="0">
                <a:solidFill>
                  <a:srgbClr val="83792E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Player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431244" y="1245314"/>
            <a:ext cx="8281511" cy="19716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</a:t>
            </a: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类继承自 </a:t>
            </a:r>
            <a:r>
              <a:rPr lang="en-US" sz="120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cocos2d::Sprite</a:t>
            </a: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，集中管理玩家的角色状态、动作、属性及与游戏世界的互动</a:t>
            </a:r>
            <a:endParaRPr lang="en-US" sz="1200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通过精心设计的状态机，确保了复杂行为的有序切换</a:t>
            </a:r>
            <a:endParaRPr lang="en-US" sz="1200" b="1" dirty="0"/>
          </a:p>
        </p:txBody>
      </p:sp>
      <p:sp>
        <p:nvSpPr>
          <p:cNvPr id="6" name="Shape 3"/>
          <p:cNvSpPr/>
          <p:nvPr/>
        </p:nvSpPr>
        <p:spPr>
          <a:xfrm>
            <a:off x="431244" y="1713786"/>
            <a:ext cx="8281511" cy="4144685"/>
          </a:xfrm>
          <a:prstGeom prst="roundRect">
            <a:avLst>
              <a:gd name="adj" fmla="val 4460"/>
            </a:avLst>
          </a:prstGeom>
          <a:solidFill>
            <a:srgbClr val="F6EBD4"/>
          </a:solidFill>
          <a:ln w="15240">
            <a:solidFill>
              <a:srgbClr val="626C3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9714" y="1852255"/>
            <a:ext cx="1540431" cy="1925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状态机设计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9714" y="2183368"/>
            <a:ext cx="8004572" cy="3536633"/>
          </a:xfrm>
          <a:prstGeom prst="roundRect">
            <a:avLst>
              <a:gd name="adj" fmla="val 5227"/>
            </a:avLst>
          </a:prstGeom>
          <a:solidFill>
            <a:srgbClr val="E9DEC7"/>
          </a:solidFill>
        </p:spPr>
      </p:sp>
      <p:sp>
        <p:nvSpPr>
          <p:cNvPr id="9" name="Shape 6"/>
          <p:cNvSpPr/>
          <p:nvPr/>
        </p:nvSpPr>
        <p:spPr>
          <a:xfrm>
            <a:off x="563642" y="2183368"/>
            <a:ext cx="8016716" cy="3536633"/>
          </a:xfrm>
          <a:prstGeom prst="roundRect">
            <a:avLst>
              <a:gd name="adj" fmla="val 523"/>
            </a:avLst>
          </a:prstGeom>
          <a:solidFill>
            <a:srgbClr val="E9DEC7"/>
          </a:solidFill>
        </p:spPr>
      </p:sp>
      <p:sp>
        <p:nvSpPr>
          <p:cNvPr id="10" name="Text 7"/>
          <p:cNvSpPr/>
          <p:nvPr/>
        </p:nvSpPr>
        <p:spPr>
          <a:xfrm>
            <a:off x="686872" y="2275761"/>
            <a:ext cx="7770257" cy="33518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enum class PlayerState {
  IDLE, WALK_UP, WALK_DOWN, WALK_LEFT, WALK_RIGHT,
  ATTACK, HURT
};
class Player : public cocos2d::Sprite {
private:
  PlayerState currentState_;       // 当前状态
  cocos2d::Animation* walkUpAnimation_; // 动画资源
  cocos2d::Animation* useAxeUpAnimation_;
  cocos2d::Animation* useHoeUpAnimation_;
  int hp_, maxHp_;                 // 生命值
  float currentEnergy_, maxEnergy_; // 能量系统
  float moveSpeed_;                // 移动速度
  MapLayer* mapLayer_;             // 碰撞检测
  FarmManager* farmManager_;       // 农田操作
};
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1244" y="5981700"/>
            <a:ext cx="8281511" cy="1461373"/>
          </a:xfrm>
          <a:prstGeom prst="roundRect">
            <a:avLst>
              <a:gd name="adj" fmla="val 12650"/>
            </a:avLst>
          </a:prstGeom>
          <a:solidFill>
            <a:srgbClr val="F6EBD4"/>
          </a:solidFill>
          <a:ln w="15240">
            <a:solidFill>
              <a:srgbClr val="8379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9714" y="6120170"/>
            <a:ext cx="1540431" cy="1925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核心功能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9714" y="6386632"/>
            <a:ext cx="8004572" cy="19716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SzPct val="100000"/>
              <a:buNone/>
            </a:pP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精细的</a:t>
            </a:r>
            <a:r>
              <a:rPr lang="en-US" sz="9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移动控制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与碰撞检测。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69714" y="6626900"/>
            <a:ext cx="8004572" cy="19716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SzPct val="100000"/>
              <a:buNone/>
            </a:pP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基于状态机的</a:t>
            </a:r>
            <a:r>
              <a:rPr lang="en-US" sz="9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动画切换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，确保角色动作流畅自然。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69714" y="6867168"/>
            <a:ext cx="8004572" cy="19716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SzPct val="100000"/>
              <a:buNone/>
            </a:pP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完整的</a:t>
            </a:r>
            <a:r>
              <a:rPr lang="en-US" sz="9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战斗系统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，包括攻击判定与受击反馈。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69714" y="7107436"/>
            <a:ext cx="8004572" cy="19716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SzPct val="100000"/>
              <a:buNone/>
            </a:pP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创新的</a:t>
            </a:r>
            <a:r>
              <a:rPr lang="en-US" sz="9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能量管理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，支持工具使用与农田操作消耗。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31244" y="7581662"/>
            <a:ext cx="8281511" cy="19716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类通过</a:t>
            </a:r>
            <a:r>
              <a:rPr lang="en-US" sz="9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依赖注入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</a:t>
            </a:r>
            <a:r>
              <a:rPr lang="en-US" sz="9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MapLayer*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9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FarmManager*</a:t>
            </a:r>
            <a:r>
              <a:rPr lang="en-US" sz="9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) 获取外部环境信息，实现角色与场景的解耦交互。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3542109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管理器类（一）：农田与背包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223480" y="1163042"/>
            <a:ext cx="2882979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FarmManager：农田管理器</a:t>
            </a: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9838690" y="1109980"/>
            <a:ext cx="3816350" cy="2347595"/>
          </a:xfrm>
          <a:prstGeom prst="roundRect">
            <a:avLst>
              <a:gd name="adj" fmla="val 7247"/>
            </a:avLst>
          </a:prstGeom>
          <a:solidFill>
            <a:srgbClr val="E9DEC7"/>
          </a:solidFill>
        </p:spPr>
      </p:sp>
      <p:sp>
        <p:nvSpPr>
          <p:cNvPr id="7" name="Shape 3"/>
          <p:cNvSpPr/>
          <p:nvPr/>
        </p:nvSpPr>
        <p:spPr>
          <a:xfrm>
            <a:off x="9832975" y="1109980"/>
            <a:ext cx="3799205" cy="2347595"/>
          </a:xfrm>
          <a:prstGeom prst="roundRect">
            <a:avLst>
              <a:gd name="adj" fmla="val 725"/>
            </a:avLst>
          </a:prstGeom>
          <a:solidFill>
            <a:srgbClr val="E9DEC7"/>
          </a:solidFill>
        </p:spPr>
      </p:sp>
      <p:sp>
        <p:nvSpPr>
          <p:cNvPr id="8" name="Text 4"/>
          <p:cNvSpPr/>
          <p:nvPr/>
        </p:nvSpPr>
        <p:spPr>
          <a:xfrm>
            <a:off x="9946640" y="1195070"/>
            <a:ext cx="3548380" cy="217741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struct FarmTile {
  bool tilled, watered, hasCrop;
  int cropId, stage, progressDays;
};
class FarmManager : public cocos2d::Node {
  std::vector tiles_; // 地图大小的瓦片数组
  ActionResult tillTile(const Vec2&amp; coord);
  ActionResult plantSeed(const Vec2&amp; coord, int cropId);
  ActionResult waterTile(const Vec2&amp; coord);
  ActionResult harvestTile(const Vec2&amp; coord);
};
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223520" y="1943735"/>
            <a:ext cx="13836650" cy="7848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管理农田的所有状态与操作</a:t>
            </a:r>
            <a:r>
              <a:rPr lang="zh-CN" altLang="en-US" dirty="0">
                <a:solidFill>
                  <a:srgbClr val="403011"/>
                </a:solidFill>
                <a:latin typeface="Brygada 1918" pitchFamily="34" charset="0"/>
                <a:ea typeface="宋体" panose="02010600030101010101" pitchFamily="2" charset="-122"/>
                <a:cs typeface="Brygada 1918" pitchFamily="34" charset="-120"/>
              </a:rPr>
              <a:t>：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包括耕地、播种、浇水和收获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维护一个与地图大小对应的 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FarmTile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结构数组，精确追踪每个瓦片的农作物生长进度与状态</a:t>
            </a:r>
            <a:endParaRPr lang="en-US" dirty="0"/>
          </a:p>
        </p:txBody>
      </p:sp>
      <p:sp>
        <p:nvSpPr>
          <p:cNvPr id="10" name="Shape 6"/>
          <p:cNvSpPr/>
          <p:nvPr/>
        </p:nvSpPr>
        <p:spPr>
          <a:xfrm>
            <a:off x="344765" y="3633566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11" name="Text 7"/>
          <p:cNvSpPr/>
          <p:nvPr/>
        </p:nvSpPr>
        <p:spPr>
          <a:xfrm>
            <a:off x="223480" y="3916164"/>
            <a:ext cx="3368516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InventoryManager：背包管理器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9838690" y="4512310"/>
            <a:ext cx="3351530" cy="2529205"/>
          </a:xfrm>
          <a:prstGeom prst="roundRect">
            <a:avLst>
              <a:gd name="adj" fmla="val 6727"/>
            </a:avLst>
          </a:prstGeom>
          <a:solidFill>
            <a:srgbClr val="E9DEC7"/>
          </a:solidFill>
        </p:spPr>
      </p:sp>
      <p:sp>
        <p:nvSpPr>
          <p:cNvPr id="13" name="Shape 9"/>
          <p:cNvSpPr/>
          <p:nvPr/>
        </p:nvSpPr>
        <p:spPr>
          <a:xfrm>
            <a:off x="9832975" y="4512310"/>
            <a:ext cx="3378200" cy="2529205"/>
          </a:xfrm>
          <a:prstGeom prst="roundRect">
            <a:avLst>
              <a:gd name="adj" fmla="val 673"/>
            </a:avLst>
          </a:prstGeom>
          <a:solidFill>
            <a:srgbClr val="E9DEC7"/>
          </a:solidFill>
        </p:spPr>
      </p:sp>
      <p:sp>
        <p:nvSpPr>
          <p:cNvPr id="14" name="Text 10"/>
          <p:cNvSpPr/>
          <p:nvPr/>
        </p:nvSpPr>
        <p:spPr>
          <a:xfrm>
            <a:off x="9946640" y="4597400"/>
            <a:ext cx="2966720" cy="2359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struct ItemSlot {
  ItemType type;
  int count; // 可堆叠（最多99）
  int durability, maxDurability; // 工具耐久度
};
class InventoryManager : public cocos2d::Node {
  std::vector slots_; // 30格背包
  int money_; // 金币
  bool addItem(ItemType type, int count);
  bool removeItem(ItemType type, int count);
  void swapSlots(int idx1, int idx2);
};
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223520" y="4822190"/>
            <a:ext cx="13836650" cy="8242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InventoryManager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管理玩家的背包物品和金币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通过 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ItemSlot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结构，支持物品堆叠和工具耐久度系统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其核心功能包括物品的增删、金币管</a:t>
            </a:r>
            <a:r>
              <a:rPr lang="zh-CN" alt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理</a:t>
            </a:r>
            <a:endParaRPr lang="zh-CN" alt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zh-CN" alt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背包格子的交换操作，确保了背包系统的灵活性和可玩性。</a:t>
            </a:r>
            <a:endParaRPr lang="en-US" dirty="0"/>
          </a:p>
        </p:txBody>
      </p:sp>
      <p:sp>
        <p:nvSpPr>
          <p:cNvPr id="16" name="Shape 12"/>
          <p:cNvSpPr/>
          <p:nvPr/>
        </p:nvSpPr>
        <p:spPr>
          <a:xfrm>
            <a:off x="290790" y="7011194"/>
            <a:ext cx="13836729" cy="481846"/>
          </a:xfrm>
          <a:prstGeom prst="roundRect">
            <a:avLst>
              <a:gd name="adj" fmla="val 35306"/>
            </a:avLst>
          </a:prstGeom>
          <a:solidFill>
            <a:srgbClr val="DFE4CE"/>
          </a:solidFill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38" y="7175619"/>
            <a:ext cx="141684" cy="1133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9170" y="7152878"/>
            <a:ext cx="13355002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ItemType 枚举</a:t>
            </a: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：工具 (6种)、种子 (6种)、作物 (6种)、矿物 (5种)、武器 (4种)、鱼类 (9种)。</a:t>
            </a:r>
            <a:endParaRPr lang="en-US" sz="85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rcRect l="1561" t="9953" b="10420"/>
          <a:stretch>
            <a:fillRect/>
          </a:stretch>
        </p:blipFill>
        <p:spPr>
          <a:xfrm>
            <a:off x="12668250" y="7579360"/>
            <a:ext cx="1962150" cy="65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3542109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管理器类（二）：时间与存档</a:t>
            </a:r>
            <a:endParaRPr lang="en-US" sz="2800" dirty="0"/>
          </a:p>
        </p:txBody>
      </p:sp>
      <p:sp>
        <p:nvSpPr>
          <p:cNvPr id="5" name="Text 1"/>
          <p:cNvSpPr/>
          <p:nvPr>
            <p:custDataLst>
              <p:tags r:id="rId1"/>
            </p:custDataLst>
          </p:nvPr>
        </p:nvSpPr>
        <p:spPr>
          <a:xfrm>
            <a:off x="232370" y="866140"/>
            <a:ext cx="4217789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TimeManager：时间管理器（单例模式）</a:t>
            </a:r>
            <a:endParaRPr lang="en-US" sz="2400" dirty="0"/>
          </a:p>
        </p:txBody>
      </p:sp>
      <p:sp>
        <p:nvSpPr>
          <p:cNvPr id="6" name="Shape 2"/>
          <p:cNvSpPr/>
          <p:nvPr>
            <p:custDataLst>
              <p:tags r:id="rId2"/>
            </p:custDataLst>
          </p:nvPr>
        </p:nvSpPr>
        <p:spPr>
          <a:xfrm>
            <a:off x="10226675" y="994410"/>
            <a:ext cx="3485515" cy="2347595"/>
          </a:xfrm>
          <a:prstGeom prst="roundRect">
            <a:avLst>
              <a:gd name="adj" fmla="val 7247"/>
            </a:avLst>
          </a:prstGeom>
          <a:solidFill>
            <a:srgbClr val="E9DEC7"/>
          </a:solidFill>
        </p:spPr>
      </p:sp>
      <p:sp>
        <p:nvSpPr>
          <p:cNvPr id="7" name="Shape 3"/>
          <p:cNvSpPr/>
          <p:nvPr>
            <p:custDataLst>
              <p:tags r:id="rId3"/>
            </p:custDataLst>
          </p:nvPr>
        </p:nvSpPr>
        <p:spPr>
          <a:xfrm>
            <a:off x="10220960" y="994410"/>
            <a:ext cx="3463925" cy="2347595"/>
          </a:xfrm>
          <a:prstGeom prst="roundRect">
            <a:avLst>
              <a:gd name="adj" fmla="val 725"/>
            </a:avLst>
          </a:prstGeom>
          <a:solidFill>
            <a:srgbClr val="E9DEC7"/>
          </a:solidFill>
        </p:spPr>
      </p:sp>
      <p:sp>
        <p:nvSpPr>
          <p:cNvPr id="8" name="Text 4"/>
          <p:cNvSpPr/>
          <p:nvPr>
            <p:custDataLst>
              <p:tags r:id="rId4"/>
            </p:custDataLst>
          </p:nvPr>
        </p:nvSpPr>
        <p:spPr>
          <a:xfrm>
            <a:off x="10334625" y="1079500"/>
            <a:ext cx="3175000" cy="217741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TimeManager {
private:
  float dayTimer_;      // 当天已过时间
  int dayCount_;        // 天数计数
  const float SECONDS_PER_DAY = 300.0f; // 5分钟=1天
public:
  static TimeManager* getInstance();
  int getHour() const;  // 6-23时
  int getDay() const;
  void advanceToNextDay();
};
</a:t>
            </a:r>
            <a:endParaRPr lang="en-US" sz="850" dirty="0"/>
          </a:p>
        </p:txBody>
      </p:sp>
      <p:sp>
        <p:nvSpPr>
          <p:cNvPr id="9" name="Text 5"/>
          <p:cNvSpPr/>
          <p:nvPr>
            <p:custDataLst>
              <p:tags r:id="rId5"/>
            </p:custDataLst>
          </p:nvPr>
        </p:nvSpPr>
        <p:spPr>
          <a:xfrm>
            <a:off x="288885" y="1518761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TimeManager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作为单例模式的核心应用，确保游戏内时间的唯一性和全局可访问性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它精确控制时间的流逝，模拟昼夜循环与季节更替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并通过 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advanceToNextDay()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驱动游戏世界的日更事件</a:t>
            </a:r>
            <a:endParaRPr lang="en-US" dirty="0"/>
          </a:p>
        </p:txBody>
      </p:sp>
      <p:sp>
        <p:nvSpPr>
          <p:cNvPr id="10" name="Shape 6"/>
          <p:cNvSpPr/>
          <p:nvPr>
            <p:custDataLst>
              <p:tags r:id="rId6"/>
            </p:custDataLst>
          </p:nvPr>
        </p:nvSpPr>
        <p:spPr>
          <a:xfrm>
            <a:off x="288885" y="3440804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  <p:txBody>
          <a:bodyPr/>
          <a:p>
            <a:endParaRPr lang="zh-CN" altLang="en-US"/>
          </a:p>
        </p:txBody>
      </p:sp>
      <p:sp>
        <p:nvSpPr>
          <p:cNvPr id="11" name="Text 7"/>
          <p:cNvSpPr/>
          <p:nvPr>
            <p:custDataLst>
              <p:tags r:id="rId7"/>
            </p:custDataLst>
          </p:nvPr>
        </p:nvSpPr>
        <p:spPr>
          <a:xfrm>
            <a:off x="283170" y="3646567"/>
            <a:ext cx="4167188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SaveManager：存档管理器（单例模式）</a:t>
            </a:r>
            <a:endParaRPr lang="en-US" sz="2400" dirty="0"/>
          </a:p>
        </p:txBody>
      </p:sp>
      <p:sp>
        <p:nvSpPr>
          <p:cNvPr id="12" name="Shape 8"/>
          <p:cNvSpPr/>
          <p:nvPr>
            <p:custDataLst>
              <p:tags r:id="rId8"/>
            </p:custDataLst>
          </p:nvPr>
        </p:nvSpPr>
        <p:spPr>
          <a:xfrm>
            <a:off x="10226675" y="4497070"/>
            <a:ext cx="3515995" cy="2529205"/>
          </a:xfrm>
          <a:prstGeom prst="roundRect">
            <a:avLst>
              <a:gd name="adj" fmla="val 6727"/>
            </a:avLst>
          </a:prstGeom>
          <a:solidFill>
            <a:srgbClr val="E9DEC7"/>
          </a:solidFill>
        </p:spPr>
      </p:sp>
      <p:sp>
        <p:nvSpPr>
          <p:cNvPr id="13" name="Shape 9"/>
          <p:cNvSpPr/>
          <p:nvPr>
            <p:custDataLst>
              <p:tags r:id="rId9"/>
            </p:custDataLst>
          </p:nvPr>
        </p:nvSpPr>
        <p:spPr>
          <a:xfrm>
            <a:off x="10220960" y="4497070"/>
            <a:ext cx="3549015" cy="2529205"/>
          </a:xfrm>
          <a:prstGeom prst="roundRect">
            <a:avLst>
              <a:gd name="adj" fmla="val 673"/>
            </a:avLst>
          </a:prstGeom>
          <a:solidFill>
            <a:srgbClr val="E9DEC7"/>
          </a:solidFill>
        </p:spPr>
      </p:sp>
      <p:sp>
        <p:nvSpPr>
          <p:cNvPr id="14" name="Text 10"/>
          <p:cNvSpPr/>
          <p:nvPr>
            <p:custDataLst>
              <p:tags r:id="rId10"/>
            </p:custDataLst>
          </p:nvPr>
        </p:nvSpPr>
        <p:spPr>
          <a:xfrm>
            <a:off x="10334625" y="4582160"/>
            <a:ext cx="3221355" cy="2359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struct SaveData {
  Vec2 playerPosition;
  InventoryData inventory; // 背包数据
  int dayCount;            // 天数
  std::vector farmTiles; // 农田
  std::vector chests; // 箱子
  std::vector skills; // 技能
};
class SaveManager {
  bool saveGame(const SaveData&amp; data); // JSON序列化
  bool loadGame(SaveData&amp; data);
};
</a:t>
            </a:r>
            <a:endParaRPr lang="en-US" sz="850" dirty="0"/>
          </a:p>
        </p:txBody>
      </p:sp>
      <p:sp>
        <p:nvSpPr>
          <p:cNvPr id="15" name="Text 11"/>
          <p:cNvSpPr/>
          <p:nvPr>
            <p:custDataLst>
              <p:tags r:id="rId11"/>
            </p:custDataLst>
          </p:nvPr>
        </p:nvSpPr>
        <p:spPr>
          <a:xfrm>
            <a:off x="288885" y="4413329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Sa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veManager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同为单例模式，负责游戏的持久化存储与加载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SaveData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能够高效地序列化和反序列化玩家的位置、背包、农田状态、技能等关键游戏数据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保障玩家进度不丢失</a:t>
            </a:r>
            <a:endParaRPr 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2"/>
          <a:srcRect l="1561" t="9953" b="10420"/>
          <a:stretch>
            <a:fillRect/>
          </a:stretch>
        </p:blipFill>
        <p:spPr>
          <a:xfrm>
            <a:off x="12668250" y="7579360"/>
            <a:ext cx="1962150" cy="65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7670" y="320278"/>
            <a:ext cx="3784521" cy="3639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游戏对象类：怪物基类与派生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00050" y="806371"/>
            <a:ext cx="3956566" cy="2912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Monster：怪物基类（模板方法模式）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1825" y="1564997"/>
            <a:ext cx="13815060" cy="19383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所有游戏中的怪物均继承自 </a:t>
            </a:r>
            <a:r>
              <a:rPr lang="en-US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Monster</a:t>
            </a:r>
            <a:r>
              <a:rPr lang="en-US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基类，利用模板方法模式统一了怪物的行为框架</a:t>
            </a:r>
            <a:endParaRPr lang="en-US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50"/>
              </a:lnSpc>
              <a:buNone/>
            </a:pPr>
            <a:endParaRPr lang="en-US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50"/>
              </a:lnSpc>
              <a:buNone/>
            </a:pPr>
            <a:endParaRPr lang="en-US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50"/>
              </a:lnSpc>
              <a:buNone/>
            </a:pPr>
            <a:r>
              <a:rPr lang="en-US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同时允许子类自定义其独特属性和表现。这大大增强了游戏的可扩展性。</a:t>
            </a:r>
            <a:endParaRPr lang="en-US" b="1" dirty="0"/>
          </a:p>
        </p:txBody>
      </p:sp>
      <p:sp>
        <p:nvSpPr>
          <p:cNvPr id="5" name="Shape 3"/>
          <p:cNvSpPr/>
          <p:nvPr/>
        </p:nvSpPr>
        <p:spPr>
          <a:xfrm>
            <a:off x="407670" y="1219200"/>
            <a:ext cx="3799205" cy="3154045"/>
          </a:xfrm>
          <a:prstGeom prst="roundRect">
            <a:avLst>
              <a:gd name="adj" fmla="val 5540"/>
            </a:avLst>
          </a:prstGeom>
          <a:solidFill>
            <a:srgbClr val="E9DEC7"/>
          </a:solidFill>
        </p:spPr>
      </p:sp>
      <p:sp>
        <p:nvSpPr>
          <p:cNvPr id="6" name="Shape 4"/>
          <p:cNvSpPr/>
          <p:nvPr/>
        </p:nvSpPr>
        <p:spPr>
          <a:xfrm>
            <a:off x="401955" y="1219200"/>
            <a:ext cx="3785235" cy="3154045"/>
          </a:xfrm>
          <a:prstGeom prst="roundRect">
            <a:avLst>
              <a:gd name="adj" fmla="val 554"/>
            </a:avLst>
          </a:prstGeom>
          <a:solidFill>
            <a:srgbClr val="E9DEC7"/>
          </a:solidFill>
        </p:spPr>
      </p:sp>
      <p:sp>
        <p:nvSpPr>
          <p:cNvPr id="7" name="Text 5"/>
          <p:cNvSpPr/>
          <p:nvPr/>
        </p:nvSpPr>
        <p:spPr>
          <a:xfrm>
            <a:off x="518160" y="1306830"/>
            <a:ext cx="3410585" cy="29794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Monster : public cocos2d::Sprite {
protected:
  std::string name_;
  int hp_, maxHp_, attackPower_;
  float moveSpeed_, attackRange_;
  int floorLevel_; // 楼层影响属性
  Player* targetPlayer_; // AI追踪目标
  virtual void initStats() = 0; // 子类重写属性
  virtual void initDisplay();
  virtual void updateAI(float delta); // AI追踪逻辑
public:
  virtual void takeDamage(int damage);
  virtual void attackPlayer(Player* player);
};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41825" y="3149719"/>
            <a:ext cx="13815060" cy="19383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基类定义了怪物的通用属性 (生命值、攻击力、移动速度) 和核心行为 (受到伤害、攻击玩家)</a:t>
            </a: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5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50"/>
              </a:lnSpc>
              <a:buNone/>
            </a:pPr>
            <a:endParaRPr lang="en-US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5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并留下了抽象方法 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initStats()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由具体怪物类实现</a:t>
            </a:r>
            <a:r>
              <a:rPr lang="en-US" sz="9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1955" y="4570285"/>
            <a:ext cx="13815060" cy="22146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10" name="Text 8"/>
          <p:cNvSpPr/>
          <p:nvPr/>
        </p:nvSpPr>
        <p:spPr>
          <a:xfrm>
            <a:off x="407670" y="4812109"/>
            <a:ext cx="1456015" cy="18192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子类实现示例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5765" y="5115362"/>
            <a:ext cx="6765488" cy="1862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Slime（史莱姆）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：快速、低血量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5765" y="5432544"/>
            <a:ext cx="6765488" cy="1291828"/>
          </a:xfrm>
          <a:prstGeom prst="roundRect">
            <a:avLst>
              <a:gd name="adj" fmla="val 13526"/>
            </a:avLst>
          </a:prstGeom>
          <a:solidFill>
            <a:srgbClr val="E9DEC7"/>
          </a:solidFill>
        </p:spPr>
      </p:sp>
      <p:sp>
        <p:nvSpPr>
          <p:cNvPr id="13" name="Shape 11"/>
          <p:cNvSpPr/>
          <p:nvPr/>
        </p:nvSpPr>
        <p:spPr>
          <a:xfrm>
            <a:off x="400050" y="5432544"/>
            <a:ext cx="6776918" cy="1291828"/>
          </a:xfrm>
          <a:prstGeom prst="roundRect">
            <a:avLst>
              <a:gd name="adj" fmla="val 1353"/>
            </a:avLst>
          </a:prstGeom>
          <a:solidFill>
            <a:srgbClr val="E9DEC7"/>
          </a:solidFill>
        </p:spPr>
      </p:sp>
      <p:sp>
        <p:nvSpPr>
          <p:cNvPr id="14" name="Text 12"/>
          <p:cNvSpPr/>
          <p:nvPr/>
        </p:nvSpPr>
        <p:spPr>
          <a:xfrm>
            <a:off x="516493" y="5519817"/>
            <a:ext cx="6544032" cy="111728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Slime::initStats() {
  hp_ = 50 + floorLevel_ * 10;
  attackPower_ = 5 + floorLevel_ * 2;
  moveSpeed_ = 80.0f;
}
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62957" y="5115362"/>
            <a:ext cx="6765488" cy="18621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Zombie（僵尸）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：慢速、高血量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62957" y="5432544"/>
            <a:ext cx="6765488" cy="1291828"/>
          </a:xfrm>
          <a:prstGeom prst="roundRect">
            <a:avLst>
              <a:gd name="adj" fmla="val 13526"/>
            </a:avLst>
          </a:prstGeom>
          <a:solidFill>
            <a:srgbClr val="E9DEC7"/>
          </a:solidFill>
        </p:spPr>
      </p:sp>
      <p:sp>
        <p:nvSpPr>
          <p:cNvPr id="17" name="Shape 15"/>
          <p:cNvSpPr/>
          <p:nvPr/>
        </p:nvSpPr>
        <p:spPr>
          <a:xfrm>
            <a:off x="7457242" y="5432544"/>
            <a:ext cx="6776918" cy="1291828"/>
          </a:xfrm>
          <a:prstGeom prst="roundRect">
            <a:avLst>
              <a:gd name="adj" fmla="val 1353"/>
            </a:avLst>
          </a:prstGeom>
          <a:solidFill>
            <a:srgbClr val="E9DEC7"/>
          </a:solidFill>
        </p:spPr>
      </p:sp>
      <p:sp>
        <p:nvSpPr>
          <p:cNvPr id="18" name="Text 16"/>
          <p:cNvSpPr/>
          <p:nvPr/>
        </p:nvSpPr>
        <p:spPr>
          <a:xfrm>
            <a:off x="7573685" y="5519817"/>
            <a:ext cx="6544032" cy="111728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Zombie::initStats() {
  hp_ = 100 + floorLevel_ * 20;
  attackPower_ = 10 + floorLevel_ * 3;
  moveSpeed_ = 40.0f;
}
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05765" y="6986310"/>
            <a:ext cx="13815060" cy="19383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不同怪物通过重写 </a:t>
            </a:r>
            <a:r>
              <a:rPr lang="en-US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initStats()</a:t>
            </a:r>
            <a:r>
              <a:rPr lang="en-US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方法，根据所在楼层调整自身属性，实现了多样化的敌人行为与挑战</a:t>
            </a:r>
            <a:endParaRPr lang="en-US" dirty="0"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rcRect l="1561" t="9953" b="10420"/>
          <a:stretch>
            <a:fillRect/>
          </a:stretch>
        </p:blipFill>
        <p:spPr>
          <a:xfrm>
            <a:off x="12668250" y="7579360"/>
            <a:ext cx="1962150" cy="65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35" y="398264"/>
            <a:ext cx="5013246" cy="41790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类之间的关系：继承、组合与依赖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68035" y="942658"/>
            <a:ext cx="2940248" cy="33420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继承关系：构建多态体系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68035" y="1404342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cocos2d::Scene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GameScene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MineScene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68035" y="1672590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cocos2d::Sprite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Monster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(Slime, Zombie),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NPC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68035" y="1940838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cocos2d::Node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InventoryManager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WeatherManager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68035" y="2209086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InventoryUI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MarketUI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SkillTreeUI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68035" y="2580918"/>
            <a:ext cx="13694331" cy="21383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通过继承，我们实现了代码复用和多态性，使得不同类型的场景、角色和UI能够共享基础功能并扩展各自的独有特性</a:t>
            </a:r>
            <a:endParaRPr lang="en-US" sz="1200" b="1" dirty="0"/>
          </a:p>
        </p:txBody>
      </p:sp>
      <p:sp>
        <p:nvSpPr>
          <p:cNvPr id="9" name="Shape 7"/>
          <p:cNvSpPr/>
          <p:nvPr/>
        </p:nvSpPr>
        <p:spPr>
          <a:xfrm>
            <a:off x="468035" y="3011900"/>
            <a:ext cx="13694331" cy="24289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10" name="Text 8"/>
          <p:cNvSpPr/>
          <p:nvPr/>
        </p:nvSpPr>
        <p:spPr>
          <a:xfrm>
            <a:off x="468035" y="3236595"/>
            <a:ext cx="2940248" cy="33420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组合关系：构建复杂系统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68035" y="3771305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GameScene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通过组合关系，将地图、玩家、各类管理器和UI集成在一起，形成一个完整的游戏场景。这种松散耦合的方式使得各个组件可以独立开发和维护。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8035" y="4143137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GameScene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组合 {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InventoryManager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(单例共享),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WeatherManager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, UI层 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035" y="4581739"/>
            <a:ext cx="13694331" cy="24289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468035" y="4806434"/>
            <a:ext cx="2940248" cy="33420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依赖关系：明确模块协作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68035" y="5341144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依赖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(用于碰撞检测)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8035" y="5609392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依赖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(用于农田操作)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8035" y="5877639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依赖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TimeManager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(时间驱动)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8035" y="6145887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依赖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WeatherManager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(天气影响作物生长)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8035" y="6414135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SzPct val="100000"/>
              <a:buNone/>
            </a:pP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Monster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依赖 → </a:t>
            </a:r>
            <a:r>
              <a:rPr lang="en-US" sz="10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</a:t>
            </a: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(AI追踪目标)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8035" y="6910745"/>
            <a:ext cx="1671518" cy="20895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数据流示例</a:t>
            </a:r>
            <a:r>
              <a:rPr lang="zh-CN" altLang="en-US" sz="1300" b="1" dirty="0">
                <a:solidFill>
                  <a:srgbClr val="403011"/>
                </a:solidFill>
                <a:latin typeface="Brygada 1918 Semi Bold" pitchFamily="34" charset="0"/>
                <a:ea typeface="宋体" panose="02010600030101010101" pitchFamily="2" charset="-122"/>
                <a:cs typeface="Brygada 1918 Semi Bold" pitchFamily="34" charset="-120"/>
              </a:rPr>
              <a:t>：</a:t>
            </a:r>
            <a:endParaRPr lang="zh-CN" altLang="en-US" sz="1300" b="1" dirty="0">
              <a:solidFill>
                <a:srgbClr val="403011"/>
              </a:solidFill>
              <a:latin typeface="Brygada 1918 Semi Bold" pitchFamily="34" charset="0"/>
              <a:ea typeface="宋体" panose="02010600030101010101" pitchFamily="2" charset="-122"/>
              <a:cs typeface="Brygada 1918 Semi Bold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68035" y="7200186"/>
            <a:ext cx="13694331" cy="22145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用户按键 → </a:t>
            </a:r>
            <a:r>
              <a:rPr lang="en-US" sz="105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GameScene</a:t>
            </a:r>
            <a:r>
              <a:rPr lang="en-US" sz="10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计算坐标 → </a:t>
            </a:r>
            <a:r>
              <a:rPr lang="en-US" sz="105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0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检查 </a:t>
            </a:r>
            <a:r>
              <a:rPr lang="en-US" sz="105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TimeManager</a:t>
            </a:r>
            <a:r>
              <a:rPr lang="en-US" sz="10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更新数据 → </a:t>
            </a:r>
            <a:r>
              <a:rPr lang="en-US" sz="105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SkillManager</a:t>
            </a:r>
            <a:r>
              <a:rPr lang="en-US" sz="10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</a:t>
            </a:r>
            <a:r>
              <a:rPr lang="en-US" sz="105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InventoryManager</a:t>
            </a:r>
            <a:r>
              <a:rPr lang="en-US" sz="10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→ 刷新UI</a:t>
            </a:r>
            <a:endParaRPr lang="en-US" sz="1050" b="1" dirty="0"/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1"/>
          <a:srcRect l="1561" t="9953" b="10420"/>
          <a:stretch>
            <a:fillRect/>
          </a:stretch>
        </p:blipFill>
        <p:spPr>
          <a:xfrm>
            <a:off x="12668250" y="7579360"/>
            <a:ext cx="1962150" cy="65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9262" y="140653"/>
            <a:ext cx="5654873" cy="7068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项目加分项展示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98632" y="1659890"/>
            <a:ext cx="13047107" cy="3619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除了核心功能实现，项目在开发流程和团队协作上也严格遵循了高效与规范。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59262" y="2144787"/>
            <a:ext cx="13047107" cy="35838"/>
          </a:xfrm>
          <a:prstGeom prst="rect">
            <a:avLst/>
          </a:prstGeom>
          <a:solidFill>
            <a:srgbClr val="403011">
              <a:alpha val="50000"/>
            </a:srgbClr>
          </a:solidFill>
        </p:spPr>
        <p:txBody>
          <a:bodyPr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59262" y="970955"/>
            <a:ext cx="5622369" cy="56554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Github</a:t>
            </a:r>
            <a:r>
              <a:rPr lang="en-US" sz="3550" b="1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使用规范与团队协作</a:t>
            </a:r>
            <a:endParaRPr lang="en-US" sz="3550" b="1" dirty="0"/>
          </a:p>
        </p:txBody>
      </p:sp>
      <p:sp>
        <p:nvSpPr>
          <p:cNvPr id="6" name="Text 4"/>
          <p:cNvSpPr/>
          <p:nvPr/>
        </p:nvSpPr>
        <p:spPr>
          <a:xfrm>
            <a:off x="759262" y="2390735"/>
            <a:ext cx="2827377" cy="3533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仓库规范化管理</a:t>
            </a:r>
            <a:r>
              <a:rPr lang="zh-CN" altLang="en-US" sz="2200" dirty="0">
                <a:solidFill>
                  <a:srgbClr val="403011"/>
                </a:solidFill>
                <a:latin typeface="Brygada 1918 Semi Bold" pitchFamily="34" charset="0"/>
                <a:ea typeface="宋体" panose="02010600030101010101" pitchFamily="2" charset="-122"/>
                <a:cs typeface="Brygada 1918 Semi Bold" pitchFamily="34" charset="-120"/>
              </a:rPr>
              <a:t>：</a:t>
            </a:r>
            <a:endParaRPr lang="zh-CN" altLang="en-US" sz="2200" dirty="0">
              <a:solidFill>
                <a:srgbClr val="403011"/>
              </a:solidFill>
              <a:latin typeface="Brygada 1918 Semi Bold" pitchFamily="34" charset="0"/>
              <a:ea typeface="宋体" panose="02010600030101010101" pitchFamily="2" charset="-122"/>
              <a:cs typeface="Brygada 1918 Semi Bold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98632" y="2883218"/>
            <a:ext cx="6247686" cy="7543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SzPct val="100000"/>
              <a:buNone/>
            </a:pP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📁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</a:t>
            </a:r>
            <a:r>
              <a:rPr lang="en-US" sz="17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清晰的目录结构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：严格区分 </a:t>
            </a:r>
            <a:r>
              <a:rPr lang="en-US" sz="17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Classes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(核心代码) 与 </a:t>
            </a:r>
            <a:r>
              <a:rPr lang="en-US" sz="17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Resources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(资源文件)，便于查找与维护。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8632" y="3716655"/>
            <a:ext cx="6247686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SzPct val="100000"/>
              <a:buNone/>
            </a:pP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📄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</a:t>
            </a:r>
            <a:r>
              <a:rPr lang="en-US" sz="17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完整的Readme.md</a:t>
            </a:r>
            <a:r>
              <a:rPr lang="zh-CN" altLang="en-US" sz="17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文件：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包含项目简介、功能清单、技术栈、安装与运行指南，确保成员快速上手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9738" y="5142190"/>
            <a:ext cx="2827377" cy="3533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高效的Commit记录</a:t>
            </a:r>
            <a:r>
              <a:rPr lang="zh-CN" altLang="en-US" sz="2200" dirty="0">
                <a:solidFill>
                  <a:srgbClr val="403011"/>
                </a:solidFill>
                <a:latin typeface="Brygada 1918 Semi Bold" pitchFamily="34" charset="0"/>
                <a:ea typeface="宋体" panose="02010600030101010101" pitchFamily="2" charset="-122"/>
                <a:cs typeface="Brygada 1918 Semi Bold" pitchFamily="34" charset="-120"/>
              </a:rPr>
              <a:t>：</a:t>
            </a:r>
            <a:endParaRPr lang="zh-CN" altLang="en-US" sz="2200" dirty="0">
              <a:solidFill>
                <a:srgbClr val="403011"/>
              </a:solidFill>
              <a:latin typeface="Brygada 1918 Semi Bold" pitchFamily="34" charset="0"/>
              <a:ea typeface="宋体" panose="02010600030101010101" pitchFamily="2" charset="-122"/>
              <a:cs typeface="Brygada 1918 Semi Bold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59738" y="5721668"/>
            <a:ext cx="6247686" cy="3695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SzPct val="100000"/>
              <a:buNone/>
            </a:pP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📈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</a:t>
            </a:r>
            <a:r>
              <a:rPr lang="en-US" sz="17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持续迭代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：累计 </a:t>
            </a:r>
            <a:r>
              <a:rPr lang="en-US" sz="17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171次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提交，项目功能逐步完善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738" y="6170295"/>
            <a:ext cx="6247686" cy="3695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SzPct val="100000"/>
              <a:buNone/>
            </a:pP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💻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</a:t>
            </a:r>
            <a:r>
              <a:rPr lang="en-US" sz="17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团队贡献</a:t>
            </a:r>
            <a:r>
              <a:rPr lang="en-US" sz="17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：4名成员均有实质性提交，体现良好协作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467360" y="6576695"/>
            <a:ext cx="6257290" cy="991235"/>
          </a:xfrm>
          <a:prstGeom prst="roundRect">
            <a:avLst>
              <a:gd name="adj" fmla="val 20138"/>
            </a:avLst>
          </a:prstGeom>
          <a:solidFill>
            <a:srgbClr val="DFE4CE"/>
          </a:solidFill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627" y="6783070"/>
            <a:ext cx="282654" cy="2261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85322" y="6700282"/>
            <a:ext cx="5286732" cy="10858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Commit特点</a:t>
            </a: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：描述清晰具体，专注单一改动；修复</a:t>
            </a:r>
            <a:r>
              <a:rPr lang="en-US" sz="1750" b="1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B</a:t>
            </a: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ug立即提交，快速迭代；</a:t>
            </a:r>
            <a:r>
              <a:rPr lang="zh-CN" alt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简洁</a:t>
            </a:r>
            <a:r>
              <a:rPr lang="en-US" sz="17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描述，便于团队理解。</a:t>
            </a:r>
            <a:endParaRPr lang="en-US" sz="1750" dirty="0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rcRect t="49784" r="-933"/>
          <a:stretch>
            <a:fillRect/>
          </a:stretch>
        </p:blipFill>
        <p:spPr>
          <a:xfrm>
            <a:off x="7007225" y="4882515"/>
            <a:ext cx="2885440" cy="294576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225" y="2336800"/>
            <a:ext cx="6025515" cy="2121535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rcRect l="1561" t="9953" b="10420"/>
          <a:stretch>
            <a:fillRect/>
          </a:stretch>
        </p:blipFill>
        <p:spPr>
          <a:xfrm>
            <a:off x="12854305" y="7640955"/>
            <a:ext cx="1776095" cy="588645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2665" y="4877435"/>
            <a:ext cx="2903855" cy="29508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代码质量与内存管理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91120" y="749714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96835" y="867212"/>
            <a:ext cx="2268260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内存管理策略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396835" y="1150342"/>
            <a:ext cx="1894880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Cocos2d-x 引用计数机制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550" y="1363464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利用 Cocos2d-x 的autorelease()机制</a:t>
            </a:r>
            <a:endParaRPr lang="en-US" sz="1200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我们确保了对象在不再需要时能被自动回收，避免手动内存管理带来的常见错误</a:t>
            </a:r>
            <a:endParaRPr lang="en-US" sz="1200" b="1" dirty="0"/>
          </a:p>
        </p:txBody>
      </p:sp>
      <p:sp>
        <p:nvSpPr>
          <p:cNvPr id="8" name="Shape 6"/>
          <p:cNvSpPr/>
          <p:nvPr/>
        </p:nvSpPr>
        <p:spPr>
          <a:xfrm>
            <a:off x="401955" y="1870710"/>
            <a:ext cx="3446145" cy="1803400"/>
          </a:xfrm>
          <a:prstGeom prst="roundRect">
            <a:avLst>
              <a:gd name="adj" fmla="val 9435"/>
            </a:avLst>
          </a:prstGeom>
          <a:solidFill>
            <a:srgbClr val="E9DEC7"/>
          </a:solidFill>
        </p:spPr>
      </p:sp>
      <p:sp>
        <p:nvSpPr>
          <p:cNvPr id="9" name="Shape 7"/>
          <p:cNvSpPr/>
          <p:nvPr/>
        </p:nvSpPr>
        <p:spPr>
          <a:xfrm>
            <a:off x="390525" y="1870710"/>
            <a:ext cx="3456940" cy="1803400"/>
          </a:xfrm>
          <a:prstGeom prst="roundRect">
            <a:avLst>
              <a:gd name="adj" fmla="val 944"/>
            </a:avLst>
          </a:prstGeom>
          <a:solidFill>
            <a:srgbClr val="E9DEC7"/>
          </a:solidFill>
        </p:spPr>
      </p:sp>
      <p:sp>
        <p:nvSpPr>
          <p:cNvPr id="10" name="Text 8"/>
          <p:cNvSpPr/>
          <p:nvPr/>
        </p:nvSpPr>
        <p:spPr>
          <a:xfrm>
            <a:off x="504190" y="1955800"/>
            <a:ext cx="3343910" cy="16332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FarmManager* FarmManager::create(MapLayer* mapLayer)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FarmManager* mgr = new (std::nothrow) FarmManager();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if (mgr &amp;&amp; mgr-&gt;init(mapLayer))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mgr-&gt;autorelease();  // Cocos2d-x自动释放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return mgr;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CC_SAFE_DELETE(mgr);  // 失败时安全删除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return nullptr;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972260" y="928370"/>
            <a:ext cx="170116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智能指针管理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972260" y="1255157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对于非 Cocos2d-x 管理的对象（特别是单例模式中的全局实例）</a:t>
            </a:r>
            <a:endParaRPr lang="en-US" sz="1200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我们广泛使用 C++11 的 </a:t>
            </a:r>
            <a:r>
              <a:rPr lang="en-US" sz="120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std::unique_ptr</a:t>
            </a:r>
            <a:endParaRPr lang="en-US" sz="1200" b="1" dirty="0">
              <a:solidFill>
                <a:srgbClr val="403011"/>
              </a:solidFill>
              <a:highlight>
                <a:srgbClr val="E9DEC7"/>
              </a:highlight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实现资源的自动化管理和 RAII (Resource Acquisition Is Initialization) 原则。</a:t>
            </a:r>
            <a:endParaRPr lang="en-US" sz="1200" b="1" dirty="0"/>
          </a:p>
        </p:txBody>
      </p:sp>
      <p:sp>
        <p:nvSpPr>
          <p:cNvPr id="13" name="Shape 11"/>
          <p:cNvSpPr/>
          <p:nvPr/>
        </p:nvSpPr>
        <p:spPr>
          <a:xfrm>
            <a:off x="7046595" y="1839595"/>
            <a:ext cx="3042285" cy="1440180"/>
          </a:xfrm>
          <a:prstGeom prst="roundRect">
            <a:avLst>
              <a:gd name="adj" fmla="val 11813"/>
            </a:avLst>
          </a:prstGeom>
          <a:solidFill>
            <a:srgbClr val="E9DEC7"/>
          </a:solidFill>
        </p:spPr>
      </p:sp>
      <p:sp>
        <p:nvSpPr>
          <p:cNvPr id="14" name="Shape 12"/>
          <p:cNvSpPr/>
          <p:nvPr/>
        </p:nvSpPr>
        <p:spPr>
          <a:xfrm>
            <a:off x="6933565" y="1842770"/>
            <a:ext cx="3129915" cy="1440180"/>
          </a:xfrm>
          <a:prstGeom prst="roundRect">
            <a:avLst>
              <a:gd name="adj" fmla="val 1181"/>
            </a:avLst>
          </a:prstGeom>
          <a:solidFill>
            <a:srgbClr val="E9DEC7"/>
          </a:solidFill>
        </p:spPr>
      </p:sp>
      <p:sp>
        <p:nvSpPr>
          <p:cNvPr id="15" name="Text 13"/>
          <p:cNvSpPr/>
          <p:nvPr/>
        </p:nvSpPr>
        <p:spPr>
          <a:xfrm>
            <a:off x="7047230" y="1927860"/>
            <a:ext cx="2710815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template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Singleton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static std::unique_ptr instance_;  // 自动释放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static void destroyInstance()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instance_.reset();  // 显式释放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};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3820" y="3822660"/>
            <a:ext cx="2210276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严格的空指针检查与安全分配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403820" y="4144367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在对象创建和使用时进行严格的空指针检查，并采用 </a:t>
            </a:r>
            <a:r>
              <a:rPr lang="en-US" sz="120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std::nothrow</a:t>
            </a: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进行内存分配，确保程序在资源不足时能优雅处理，避免崩溃</a:t>
            </a:r>
            <a:endParaRPr lang="en-US" sz="1200" b="1" dirty="0"/>
          </a:p>
        </p:txBody>
      </p:sp>
      <p:sp>
        <p:nvSpPr>
          <p:cNvPr id="18" name="Shape 16"/>
          <p:cNvSpPr/>
          <p:nvPr/>
        </p:nvSpPr>
        <p:spPr>
          <a:xfrm>
            <a:off x="301585" y="4427299"/>
            <a:ext cx="13836729" cy="1621631"/>
          </a:xfrm>
          <a:prstGeom prst="roundRect">
            <a:avLst>
              <a:gd name="adj" fmla="val 10491"/>
            </a:avLst>
          </a:prstGeom>
          <a:solidFill>
            <a:srgbClr val="E9DEC7"/>
          </a:solidFill>
        </p:spPr>
      </p:sp>
      <p:sp>
        <p:nvSpPr>
          <p:cNvPr id="19" name="Shape 17"/>
          <p:cNvSpPr/>
          <p:nvPr/>
        </p:nvSpPr>
        <p:spPr>
          <a:xfrm>
            <a:off x="295989" y="4427299"/>
            <a:ext cx="13847921" cy="1621631"/>
          </a:xfrm>
          <a:prstGeom prst="roundRect">
            <a:avLst>
              <a:gd name="adj" fmla="val 1049"/>
            </a:avLst>
          </a:prstGeom>
          <a:solidFill>
            <a:srgbClr val="E9DEC7"/>
          </a:solidFill>
        </p:spPr>
      </p:sp>
      <p:sp>
        <p:nvSpPr>
          <p:cNvPr id="20" name="Text 18"/>
          <p:cNvSpPr/>
          <p:nvPr/>
        </p:nvSpPr>
        <p:spPr>
          <a:xfrm>
            <a:off x="409337" y="4512310"/>
            <a:ext cx="13621226" cy="14516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指针使用前检查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 (mapLayer_)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mapLayer_-&gt;worldToTile(position);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nothrow分配，确保安全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Player* player = new (std::nothrow) Player();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 (!player) return false;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07300" y="6087722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22" name="Text 20"/>
          <p:cNvSpPr/>
          <p:nvPr/>
        </p:nvSpPr>
        <p:spPr>
          <a:xfrm>
            <a:off x="290155" y="6094095"/>
            <a:ext cx="2268260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验证与成果</a:t>
            </a:r>
            <a:endParaRPr lang="en-US" sz="1750" dirty="0"/>
          </a:p>
        </p:txBody>
      </p:sp>
      <p:sp>
        <p:nvSpPr>
          <p:cNvPr id="23" name="Shape 21"/>
          <p:cNvSpPr/>
          <p:nvPr/>
        </p:nvSpPr>
        <p:spPr>
          <a:xfrm>
            <a:off x="290155" y="6377424"/>
            <a:ext cx="4536638" cy="1122045"/>
          </a:xfrm>
          <a:prstGeom prst="roundRect">
            <a:avLst>
              <a:gd name="adj" fmla="val 15162"/>
            </a:avLst>
          </a:prstGeom>
          <a:solidFill>
            <a:srgbClr val="626C3B"/>
          </a:solidFill>
          <a:ln w="7620">
            <a:solidFill>
              <a:srgbClr val="626C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123" y="6498392"/>
            <a:ext cx="340162" cy="340162"/>
          </a:xfrm>
          <a:prstGeom prst="roundRect">
            <a:avLst>
              <a:gd name="adj" fmla="val 26878621"/>
            </a:avLst>
          </a:prstGeom>
          <a:solidFill>
            <a:srgbClr val="626C3B"/>
          </a:solidFill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706" y="6591975"/>
            <a:ext cx="152995" cy="152995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11123" y="6951901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长时间运行无内存增长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11123" y="7197050"/>
            <a:ext cx="429470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经过长时间的压力测试，游戏内存使用保持平稳，无堆积现象。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940141" y="6377424"/>
            <a:ext cx="4536638" cy="1122045"/>
          </a:xfrm>
          <a:prstGeom prst="roundRect">
            <a:avLst>
              <a:gd name="adj" fmla="val 15162"/>
            </a:avLst>
          </a:prstGeom>
          <a:solidFill>
            <a:srgbClr val="626C3B"/>
          </a:solidFill>
          <a:ln w="7620">
            <a:solidFill>
              <a:srgbClr val="83792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61109" y="6498392"/>
            <a:ext cx="340162" cy="340162"/>
          </a:xfrm>
          <a:prstGeom prst="roundRect">
            <a:avLst>
              <a:gd name="adj" fmla="val 26878621"/>
            </a:avLst>
          </a:prstGeom>
          <a:solidFill>
            <a:srgbClr val="83792E"/>
          </a:solidFill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4692" y="6591975"/>
            <a:ext cx="152995" cy="152995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061109" y="6951901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场景切换无泄漏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061109" y="7197050"/>
            <a:ext cx="429470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在不同游戏场景间频繁切换，确保所有资源在切换时得到正确释放。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9590127" y="6377424"/>
            <a:ext cx="4536638" cy="1122045"/>
          </a:xfrm>
          <a:prstGeom prst="roundRect">
            <a:avLst>
              <a:gd name="adj" fmla="val 15162"/>
            </a:avLst>
          </a:prstGeom>
          <a:solidFill>
            <a:srgbClr val="626C3B"/>
          </a:solidFill>
          <a:ln w="7620">
            <a:solidFill>
              <a:srgbClr val="E8AF3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711095" y="6498392"/>
            <a:ext cx="340162" cy="340162"/>
          </a:xfrm>
          <a:prstGeom prst="roundRect">
            <a:avLst>
              <a:gd name="adj" fmla="val 26878621"/>
            </a:avLst>
          </a:prstGeom>
          <a:solidFill>
            <a:srgbClr val="E8AF3B"/>
          </a:solidFill>
        </p:spPr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04678" y="6591975"/>
            <a:ext cx="152995" cy="152995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9711095" y="6951901"/>
            <a:ext cx="1862495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Cocos2d-x 析构函数正确调用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9711095" y="7197050"/>
            <a:ext cx="429470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关键对象在生命周期结束时，其析构函数被正确调用，回收了相关资源。</a:t>
            </a:r>
            <a:endParaRPr lang="en-US" sz="850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7"/>
          <a:srcRect l="1561" t="9953" b="10420"/>
          <a:stretch>
            <a:fillRect/>
          </a:stretch>
        </p:blipFill>
        <p:spPr>
          <a:xfrm>
            <a:off x="12668250" y="7579360"/>
            <a:ext cx="1962150" cy="65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C++特性应用展示</a:t>
            </a:r>
            <a:endParaRPr lang="en-US" sz="2800" dirty="0">
              <a:solidFill>
                <a:srgbClr val="403011"/>
              </a:solidFill>
              <a:latin typeface="Brygada 1918 Semi Bold" pitchFamily="34" charset="0"/>
              <a:ea typeface="Brygada 1918 Semi Bold" pitchFamily="34" charset="-122"/>
              <a:cs typeface="Brygada 1918 Semi Bold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96835" y="711518"/>
            <a:ext cx="2268260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zh-CN" alt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一、</a:t>
            </a:r>
            <a:r>
              <a:rPr lang="en-US" altLang="zh-CN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STL</a:t>
            </a: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容器应用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402550" y="1028677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402550" y="1125855"/>
            <a:ext cx="170116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00" b="1" dirty="0">
                <a:solidFill>
                  <a:srgbClr val="E8AF3B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std::vector</a:t>
            </a:r>
            <a:r>
              <a:rPr lang="en-US" sz="1600" b="1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 - 动态数组</a:t>
            </a:r>
            <a:endParaRPr lang="en-US" sz="1600" b="1" dirty="0"/>
          </a:p>
        </p:txBody>
      </p:sp>
      <p:sp>
        <p:nvSpPr>
          <p:cNvPr id="7" name="Shape 5"/>
          <p:cNvSpPr/>
          <p:nvPr/>
        </p:nvSpPr>
        <p:spPr>
          <a:xfrm>
            <a:off x="311150" y="1384300"/>
            <a:ext cx="3749040" cy="2529205"/>
          </a:xfrm>
          <a:prstGeom prst="roundRect">
            <a:avLst>
              <a:gd name="adj" fmla="val 6727"/>
            </a:avLst>
          </a:prstGeom>
          <a:solidFill>
            <a:srgbClr val="E9DEC7"/>
          </a:solidFill>
        </p:spPr>
      </p:sp>
      <p:sp>
        <p:nvSpPr>
          <p:cNvPr id="8" name="Shape 6"/>
          <p:cNvSpPr/>
          <p:nvPr/>
        </p:nvSpPr>
        <p:spPr>
          <a:xfrm>
            <a:off x="305435" y="1384300"/>
            <a:ext cx="3755390" cy="2529205"/>
          </a:xfrm>
          <a:prstGeom prst="roundRect">
            <a:avLst>
              <a:gd name="adj" fmla="val 673"/>
            </a:avLst>
          </a:prstGeom>
          <a:solidFill>
            <a:srgbClr val="E9DEC7"/>
          </a:solidFill>
        </p:spPr>
      </p:sp>
      <p:sp>
        <p:nvSpPr>
          <p:cNvPr id="9" name="Text 7"/>
          <p:cNvSpPr/>
          <p:nvPr/>
        </p:nvSpPr>
        <p:spPr>
          <a:xfrm>
            <a:off x="419100" y="1469390"/>
            <a:ext cx="3625215" cy="2359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GameScene.h
struct TreeChopData {
    cocos2d::Vec2 tileCoord;
    std::vector&lt;cocos2d::Vec2&gt; tiles;  // 整棵树的所有瓦片
    cocos2d::Sprite* treeSprite;
    int chopCount;
};
std::vector&lt;TreeChopData&gt; activeChops_;      // 正在被砍的树
std::vector&lt;cocos2d::Vec2&gt; choppedTrees_;    // 已砍倒的树
std::vector&lt;Monster*&gt; monsters_;             // 怪物列表
std::vector&lt;TreasureChest*&gt; chests_;         // 宝箱列表
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91120" y="3998913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应用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：砍树系统中的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activeChops_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存储正在被砍伐的树木</a:t>
            </a:r>
            <a:endParaRPr lang="en-US" sz="1200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           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choppedTrees_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记录已砍倒的树木</a:t>
            </a:r>
            <a:endParaRPr lang="en-US" sz="1200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457200" algn="l">
              <a:lnSpc>
                <a:spcPts val="1400"/>
              </a:lnSpc>
              <a:buSzPct val="100000"/>
              <a:buNone/>
            </a:pP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9060" y="4470615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  <p:txBody>
          <a:bodyPr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296235" y="1082913"/>
            <a:ext cx="225611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00" b="1" dirty="0">
                <a:solidFill>
                  <a:srgbClr val="CC914D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std::unordered_map</a:t>
            </a:r>
            <a:r>
              <a:rPr lang="en-US" sz="1600" b="1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 - 哈希表</a:t>
            </a:r>
            <a:endParaRPr lang="en-US" sz="1600" b="1" dirty="0"/>
          </a:p>
        </p:txBody>
      </p:sp>
      <p:sp>
        <p:nvSpPr>
          <p:cNvPr id="14" name="Shape 12"/>
          <p:cNvSpPr/>
          <p:nvPr/>
        </p:nvSpPr>
        <p:spPr>
          <a:xfrm>
            <a:off x="8296275" y="1328420"/>
            <a:ext cx="4178300" cy="2625090"/>
          </a:xfrm>
          <a:prstGeom prst="roundRect">
            <a:avLst>
              <a:gd name="adj" fmla="val 5883"/>
            </a:avLst>
          </a:prstGeom>
          <a:solidFill>
            <a:srgbClr val="E9DEC7"/>
          </a:solidFill>
        </p:spPr>
      </p:sp>
      <p:sp>
        <p:nvSpPr>
          <p:cNvPr id="15" name="Shape 13"/>
          <p:cNvSpPr/>
          <p:nvPr/>
        </p:nvSpPr>
        <p:spPr>
          <a:xfrm>
            <a:off x="8290560" y="1328420"/>
            <a:ext cx="4188460" cy="2640330"/>
          </a:xfrm>
          <a:prstGeom prst="roundRect">
            <a:avLst>
              <a:gd name="adj" fmla="val 588"/>
            </a:avLst>
          </a:prstGeom>
          <a:solidFill>
            <a:srgbClr val="E9DEC7"/>
          </a:solidFill>
        </p:spPr>
      </p:sp>
      <p:sp>
        <p:nvSpPr>
          <p:cNvPr id="16" name="Text 14"/>
          <p:cNvSpPr/>
          <p:nvPr/>
        </p:nvSpPr>
        <p:spPr>
          <a:xfrm>
            <a:off x="8404225" y="1412875"/>
            <a:ext cx="4064000" cy="25488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FarmManager.h
private:
    struct CropDef {
        int id;
        std::string name;
        std::vector&lt;int&gt; stageDays;  // 每阶段天数
        int salePrice;
    };
    std::unordered_map&lt;int, CropDef&gt; crops_;  // cropId -&gt; CropDef
    CropDef getCropDef(int cropId) const {
        return crops_.at(cropId);  // O(1)查找
    }
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96235" y="4079478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应用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：在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FarmManager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中，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crops_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以作物ID为键，存储作物定义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CropDef</a:t>
            </a:r>
            <a:endParaRPr lang="en-US" sz="1200" dirty="0">
              <a:solidFill>
                <a:srgbClr val="403011"/>
              </a:solidFill>
              <a:highlight>
                <a:srgbClr val="E9DEC7"/>
              </a:highlight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实现了对作物属性的 </a:t>
            </a:r>
            <a:r>
              <a:rPr lang="en-US" sz="1200" dirty="0">
                <a:solidFill>
                  <a:srgbClr val="CC914D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O(1) 平均时间复杂度查找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，确保了数据检索的极高效率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96835" y="4561364"/>
            <a:ext cx="170116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00" b="1" dirty="0">
                <a:solidFill>
                  <a:srgbClr val="626C3B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std::map</a:t>
            </a:r>
            <a:r>
              <a:rPr lang="en-US" sz="1600" b="1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 - 有序映射</a:t>
            </a:r>
            <a:endParaRPr lang="en-US" sz="1600" b="1" dirty="0"/>
          </a:p>
        </p:txBody>
      </p:sp>
      <p:sp>
        <p:nvSpPr>
          <p:cNvPr id="21" name="Shape 19"/>
          <p:cNvSpPr/>
          <p:nvPr/>
        </p:nvSpPr>
        <p:spPr>
          <a:xfrm>
            <a:off x="311110" y="4838978"/>
            <a:ext cx="13836729" cy="2528888"/>
          </a:xfrm>
          <a:prstGeom prst="roundRect">
            <a:avLst>
              <a:gd name="adj" fmla="val 6727"/>
            </a:avLst>
          </a:prstGeom>
          <a:solidFill>
            <a:srgbClr val="E9DEC7"/>
          </a:solidFill>
        </p:spPr>
      </p:sp>
      <p:sp>
        <p:nvSpPr>
          <p:cNvPr id="22" name="Shape 20"/>
          <p:cNvSpPr/>
          <p:nvPr/>
        </p:nvSpPr>
        <p:spPr>
          <a:xfrm>
            <a:off x="305435" y="4838700"/>
            <a:ext cx="4708525" cy="2529205"/>
          </a:xfrm>
          <a:prstGeom prst="roundRect">
            <a:avLst>
              <a:gd name="adj" fmla="val 673"/>
            </a:avLst>
          </a:prstGeom>
          <a:solidFill>
            <a:srgbClr val="E9DEC7"/>
          </a:solidFill>
        </p:spPr>
      </p:sp>
      <p:sp>
        <p:nvSpPr>
          <p:cNvPr id="23" name="Text 21"/>
          <p:cNvSpPr/>
          <p:nvPr/>
        </p:nvSpPr>
        <p:spPr>
          <a:xfrm>
            <a:off x="418862" y="4923988"/>
            <a:ext cx="13621226" cy="235886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MineScene.h
// 静态数据：记录每层宝箱上次开启的周数
static std::map&lt;int, int&gt; openedChestsPerWeek_;  // key: floor, value: week
void MineScene::initChests() {
    int currentWeek = TimeManager::getInstance()-&gt;getDay() / 7;
    // 如果本周已开启，不生成宝箱
    if (openedChestsPerWeek_[currentFloor_] == currentWeek) {
        return;
    }
}
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11110" y="7495381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应用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MineScene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利用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openedChestsPerWeek_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来管理矿洞宝箱的每周刷新机制。它存储每层矿洞（key）宝箱上次开启的周数（value），确保宝箱按时刷新，并且由于其有序性，也便于按楼层快速查询</a:t>
            </a:r>
            <a:endParaRPr lang="en-US" sz="1200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rcRect l="1561" t="9953" b="10420"/>
          <a:stretch>
            <a:fillRect/>
          </a:stretch>
        </p:blipFill>
        <p:spPr>
          <a:xfrm>
            <a:off x="12898120" y="7655560"/>
            <a:ext cx="1732280" cy="574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custDataLst>
              <p:tags r:id="rId1"/>
            </p:custDataLst>
          </p:nvPr>
        </p:nvSpPr>
        <p:spPr>
          <a:xfrm>
            <a:off x="396835" y="311825"/>
            <a:ext cx="3847862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二、迭代器应用 - 范围 for 循环与 </a:t>
            </a:r>
            <a:r>
              <a:rPr lang="en-US" sz="2400" dirty="0">
                <a:solidFill>
                  <a:srgbClr val="E8AF3B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auto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96200" y="569754"/>
            <a:ext cx="13836729" cy="1621631"/>
          </a:xfrm>
          <a:prstGeom prst="roundRect">
            <a:avLst>
              <a:gd name="adj" fmla="val 10491"/>
            </a:avLst>
          </a:prstGeom>
          <a:solidFill>
            <a:srgbClr val="E9DEC7"/>
          </a:solidFill>
        </p:spPr>
      </p:sp>
      <p:sp>
        <p:nvSpPr>
          <p:cNvPr id="5" name="Shape 3"/>
          <p:cNvSpPr/>
          <p:nvPr/>
        </p:nvSpPr>
        <p:spPr>
          <a:xfrm>
            <a:off x="390604" y="569754"/>
            <a:ext cx="13847921" cy="1621631"/>
          </a:xfrm>
          <a:prstGeom prst="roundRect">
            <a:avLst>
              <a:gd name="adj" fmla="val 1049"/>
            </a:avLst>
          </a:prstGeom>
          <a:solidFill>
            <a:srgbClr val="E9DEC7"/>
          </a:solidFill>
        </p:spPr>
      </p:sp>
      <p:sp>
        <p:nvSpPr>
          <p:cNvPr id="6" name="Text 4"/>
          <p:cNvSpPr/>
          <p:nvPr>
            <p:custDataLst>
              <p:tags r:id="rId2"/>
            </p:custDataLst>
          </p:nvPr>
        </p:nvSpPr>
        <p:spPr>
          <a:xfrm>
            <a:off x="503952" y="654764"/>
            <a:ext cx="13621226" cy="14516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MineScene.cpp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MineScene::updateMonsters(float delta)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for (auto* monster : monsters_) {  // 指针迭代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if (monster &amp;&amp; !monster-&gt;isDead())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monster-&gt;update(delta);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50" dirty="0"/>
          </a:p>
        </p:txBody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390485" y="2272546"/>
            <a:ext cx="13836729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简洁性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：无需手动管理迭代器，代码更清晰。</a:t>
            </a:r>
            <a:endParaRPr lang="en-US" sz="1200" dirty="0"/>
          </a:p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390485" y="2493645"/>
            <a:ext cx="13836729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安全性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：减少了迭代器失效或越界访问的风险。</a:t>
            </a:r>
            <a:endParaRPr lang="en-US" sz="12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390485" y="2714744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普适性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：适用于所有支持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begin()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和 </a:t>
            </a: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end()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的容器。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550" y="2943242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11" name="Text 9"/>
          <p:cNvSpPr/>
          <p:nvPr>
            <p:custDataLst>
              <p:tags r:id="rId6"/>
            </p:custDataLst>
          </p:nvPr>
        </p:nvSpPr>
        <p:spPr>
          <a:xfrm>
            <a:off x="390485" y="3128050"/>
            <a:ext cx="4040148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三、类与多态应用 - 纯虚函数与</a:t>
            </a:r>
            <a:r>
              <a:rPr lang="en-US" sz="2400" dirty="0">
                <a:solidFill>
                  <a:srgbClr val="626C3B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接口继承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96875" y="3488055"/>
            <a:ext cx="4305935" cy="3890010"/>
          </a:xfrm>
          <a:prstGeom prst="roundRect">
            <a:avLst>
              <a:gd name="adj" fmla="val 4274"/>
            </a:avLst>
          </a:prstGeom>
          <a:solidFill>
            <a:srgbClr val="E9DEC7"/>
          </a:solidFill>
        </p:spPr>
      </p:sp>
      <p:sp>
        <p:nvSpPr>
          <p:cNvPr id="14" name="Shape 12"/>
          <p:cNvSpPr/>
          <p:nvPr/>
        </p:nvSpPr>
        <p:spPr>
          <a:xfrm>
            <a:off x="391160" y="3488055"/>
            <a:ext cx="4297680" cy="3890010"/>
          </a:xfrm>
          <a:prstGeom prst="roundRect">
            <a:avLst>
              <a:gd name="adj" fmla="val 427"/>
            </a:avLst>
          </a:prstGeom>
          <a:solidFill>
            <a:srgbClr val="E9DEC7"/>
          </a:solidFill>
        </p:spPr>
      </p:sp>
      <p:sp>
        <p:nvSpPr>
          <p:cNvPr id="15" name="Text 13"/>
          <p:cNvSpPr/>
          <p:nvPr/>
        </p:nvSpPr>
        <p:spPr>
          <a:xfrm>
            <a:off x="504587" y="3482142"/>
            <a:ext cx="13621226" cy="38104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Fish.h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Fish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public: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~Fish() {}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// 纯虚函数：子类必须实现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ItemType getType() const = 0;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std::string getName() const = 0;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int getBasePrice() const = 0;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float getDifficulty() const = 0;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float getMovementFrequency() const = 0;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bool isSaltwater() const = 0;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// 虚函数：可选重写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virtual bool canSpawn(int hour, int season, int weather) const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true;  // 默认全天候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// 工厂方法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static Fish* createByType(ItemType type);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};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235660" y="3128724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0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Fish</a:t>
            </a: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作为抽象基类，定义了所有鱼类必须遵循的“接口”，例如获取类型、名称、价格等</a:t>
            </a:r>
            <a:endParaRPr lang="en-US" sz="1200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sz="120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这强制子类实现这些核心行为，从而保证了系统的一致性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7750" y="3559810"/>
            <a:ext cx="4243705" cy="1984375"/>
          </a:xfrm>
          <a:prstGeom prst="roundRect">
            <a:avLst>
              <a:gd name="adj" fmla="val 8572"/>
            </a:avLst>
          </a:prstGeom>
          <a:solidFill>
            <a:srgbClr val="E9DEC7"/>
          </a:solidFill>
        </p:spPr>
      </p:sp>
      <p:sp>
        <p:nvSpPr>
          <p:cNvPr id="18" name="Shape 16"/>
          <p:cNvSpPr/>
          <p:nvPr/>
        </p:nvSpPr>
        <p:spPr>
          <a:xfrm>
            <a:off x="6133465" y="3559810"/>
            <a:ext cx="4264660" cy="1984375"/>
          </a:xfrm>
          <a:prstGeom prst="roundRect">
            <a:avLst>
              <a:gd name="adj" fmla="val 857"/>
            </a:avLst>
          </a:prstGeom>
          <a:solidFill>
            <a:srgbClr val="E9DEC7"/>
          </a:solidFill>
        </p:spPr>
      </p:sp>
      <p:sp>
        <p:nvSpPr>
          <p:cNvPr id="19" name="Text 17"/>
          <p:cNvSpPr/>
          <p:nvPr/>
        </p:nvSpPr>
        <p:spPr>
          <a:xfrm>
            <a:off x="6235700" y="3644900"/>
            <a:ext cx="4135120" cy="18148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鲤鱼 - 简单淡水鱼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CarpFish : public Fish {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public: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ItemType getType() const override { return ItemType::ITEM_Carp;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std::string getName() const override { return "Carp";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int getBasePrice() const override { return 30;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float getDifficulty() const override { return 0.1f; }  // 极易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float getMovementFrequency() const override { return 2.0f;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bool isSaltwater() const override { return false; }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};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7710" y="5931376"/>
            <a:ext cx="13836729" cy="1890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子类如 </a:t>
            </a:r>
            <a:r>
              <a:rPr lang="en-US" sz="120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CarpFish</a:t>
            </a: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通过 </a:t>
            </a:r>
            <a:r>
              <a:rPr lang="en-US" sz="1200" b="1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override</a:t>
            </a: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关键字，清晰地实现了基类定义的行为</a:t>
            </a:r>
            <a:endParaRPr lang="en-US" sz="1200" b="1" dirty="0">
              <a:solidFill>
                <a:srgbClr val="403011"/>
              </a:solidFill>
              <a:latin typeface="Brygada 1918" pitchFamily="34" charset="0"/>
              <a:ea typeface="Brygada 1918" pitchFamily="34" charset="-122"/>
              <a:cs typeface="Brygada 1918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确保了多态性，使得游戏能够以统一的方式处理不同种类的鱼</a:t>
            </a:r>
            <a:endParaRPr lang="en-US" sz="1200" b="1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7"/>
          <a:srcRect l="1561" t="9953" b="10420"/>
          <a:stretch>
            <a:fillRect/>
          </a:stretch>
        </p:blipFill>
        <p:spPr>
          <a:xfrm>
            <a:off x="12898120" y="7655560"/>
            <a:ext cx="1732280" cy="574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138470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游戏体验优秀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96835" y="575366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396835" y="670639"/>
            <a:ext cx="2268260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界面精美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382230" y="954286"/>
            <a:ext cx="170116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像素风格美术资源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2230" y="1280279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🎨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角色动画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：四方向行走（每方向8帧）、攻击、受伤、钓鱼等丰富动作。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2230" y="1501378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🌾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作物系统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：6种作物 × 3个生长阶段 = 18张独特的贴图。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2230" y="1722477"/>
            <a:ext cx="4380667" cy="36290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🛠 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工具物品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：6种工具、6种种子、5种矿物、4种武器、9种鱼类，每种都有专属外观。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2230" y="2125028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🏠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场景地图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：农场、矿洞、海滩、房屋、谷仓，均采用精心设计的TMX地图。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82230" y="2346127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👥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NPC角色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：商人、铁匠等各有独立贴图与位置，栩栩如生。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47218" y="954286"/>
            <a:ext cx="170116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UI界面设计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218" y="1280279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📦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背包界面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：30格整齐排列，物品图标与数量清晰显示，一目了然。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47218" y="1501378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🏪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市场界面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：支持买/卖双模式切换，价格展示直观，交易便捷。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47218" y="1722477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🌳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技能树界面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：4种技能进度条可视化，成长路径清晰。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047218" y="1943576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💬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对话框系统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：支持NPC对话及选项按钮，增强互动性。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47218" y="2164675"/>
            <a:ext cx="4380667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⚡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能量条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：实时显示玩家体力，红色警告提醒，操作反馈及时。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712206" y="954286"/>
            <a:ext cx="1701165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视觉特效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712206" y="1280279"/>
            <a:ext cx="452175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🌞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日夜循环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：光照颜色渐变，模拟早晨、中午、傍晚、夜晚的真实变化。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712206" y="1501378"/>
            <a:ext cx="452175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🌧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天气系统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：包含晴天、雨天（粒子效果）、雪天（粒子效果），丰富场景氛围。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712206" y="1722477"/>
            <a:ext cx="452175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✨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</a:t>
            </a:r>
            <a:r>
              <a:rPr lang="en-US" sz="8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操作反馈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：耕地、浇水、收获等操作均有视觉提示，增加打击感和沉浸感。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2230" y="2751432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pic>
        <p:nvPicPr>
          <p:cNvPr id="78" name="图片 77"/>
          <p:cNvPicPr>
            <a:picLocks noChangeAspect="1"/>
          </p:cNvPicPr>
          <p:nvPr/>
        </p:nvPicPr>
        <p:blipFill>
          <a:blip r:embed="rId1"/>
          <a:srcRect l="1561" t="9953" b="10420"/>
          <a:stretch>
            <a:fillRect/>
          </a:stretch>
        </p:blipFill>
        <p:spPr>
          <a:xfrm>
            <a:off x="12898120" y="7655560"/>
            <a:ext cx="1732280" cy="57404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990" y="2881630"/>
            <a:ext cx="4601210" cy="255397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rcRect t="8017"/>
          <a:stretch>
            <a:fillRect/>
          </a:stretch>
        </p:blipFill>
        <p:spPr>
          <a:xfrm>
            <a:off x="52070" y="2853690"/>
            <a:ext cx="4711065" cy="2819400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rcRect b="13595"/>
          <a:stretch>
            <a:fillRect/>
          </a:stretch>
        </p:blipFill>
        <p:spPr>
          <a:xfrm>
            <a:off x="9909810" y="2874645"/>
            <a:ext cx="4540250" cy="2655570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430" y="5833745"/>
            <a:ext cx="3439160" cy="2244725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6"/>
          <a:srcRect t="2700" r="3018" b="5962"/>
          <a:stretch>
            <a:fillRect/>
          </a:stretch>
        </p:blipFill>
        <p:spPr>
          <a:xfrm>
            <a:off x="5219700" y="5598795"/>
            <a:ext cx="3693160" cy="2578100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7"/>
          <a:srcRect t="14635" r="19046"/>
          <a:stretch>
            <a:fillRect/>
          </a:stretch>
        </p:blipFill>
        <p:spPr>
          <a:xfrm>
            <a:off x="9712325" y="5631815"/>
            <a:ext cx="4194175" cy="25038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Text 21"/>
          <p:cNvSpPr/>
          <p:nvPr/>
        </p:nvSpPr>
        <p:spPr>
          <a:xfrm>
            <a:off x="201890" y="94615"/>
            <a:ext cx="2268260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精美动画系统</a:t>
            </a:r>
            <a:endParaRPr lang="en-US" sz="1750" dirty="0"/>
          </a:p>
        </p:txBody>
      </p:sp>
      <p:sp>
        <p:nvSpPr>
          <p:cNvPr id="25" name="Shape 23"/>
          <p:cNvSpPr/>
          <p:nvPr/>
        </p:nvSpPr>
        <p:spPr>
          <a:xfrm>
            <a:off x="201890" y="450691"/>
            <a:ext cx="4536638" cy="340162"/>
          </a:xfrm>
          <a:prstGeom prst="roundRect">
            <a:avLst>
              <a:gd name="adj" fmla="val 480114"/>
            </a:avLst>
          </a:prstGeom>
          <a:solidFill>
            <a:srgbClr val="626C3B"/>
          </a:solidFill>
          <a:ln w="7620">
            <a:solidFill>
              <a:srgbClr val="7B85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85139" y="514390"/>
            <a:ext cx="170021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5238" y="904200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角色动画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15238" y="1149350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支持四方向行走、工具使用、钓鱼等多种精细动画。例如：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5238" y="1458317"/>
            <a:ext cx="4309943" cy="3073241"/>
          </a:xfrm>
          <a:prstGeom prst="roundRect">
            <a:avLst>
              <a:gd name="adj" fmla="val 5536"/>
            </a:avLst>
          </a:prstGeom>
          <a:solidFill>
            <a:srgbClr val="E9DEC7"/>
          </a:solidFill>
        </p:spPr>
      </p:sp>
      <p:sp>
        <p:nvSpPr>
          <p:cNvPr id="30" name="Shape 28"/>
          <p:cNvSpPr/>
          <p:nvPr/>
        </p:nvSpPr>
        <p:spPr>
          <a:xfrm>
            <a:off x="309642" y="1458317"/>
            <a:ext cx="4321135" cy="3073241"/>
          </a:xfrm>
          <a:prstGeom prst="roundRect">
            <a:avLst>
              <a:gd name="adj" fmla="val 554"/>
            </a:avLst>
          </a:prstGeom>
          <a:solidFill>
            <a:srgbClr val="E9DEC7"/>
          </a:solidFill>
        </p:spPr>
      </p:sp>
      <p:sp>
        <p:nvSpPr>
          <p:cNvPr id="31" name="Text 29"/>
          <p:cNvSpPr/>
          <p:nvPr/>
        </p:nvSpPr>
        <p:spPr>
          <a:xfrm>
            <a:off x="422989" y="1543328"/>
            <a:ext cx="4094440" cy="29032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行走动画：上/下/左/右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walkUpAnimation_;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walkDownAnimation_;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walkLeftAnimation_;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walkRightAnimation_;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工具使用动画：锄头/斧头/喷壶/镐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useHoeUpAnimation_;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useAxeUpAnimation_;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useWateringUpAnimation_;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cocos2d::Animation* usePickaxeUpAnimation_;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钓鱼动画：抛竿/等待/收杆（3阶段）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Player::startFishingCast();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Player::startFishingWait();</a:t>
            </a:r>
            <a:endParaRPr lang="en-US" sz="85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highlight>
                  <a:srgbClr val="E9DEC7"/>
                </a:highlight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Player::startFishingReel();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51876" y="450691"/>
            <a:ext cx="4536638" cy="340162"/>
          </a:xfrm>
          <a:prstGeom prst="roundRect">
            <a:avLst>
              <a:gd name="adj" fmla="val 480114"/>
            </a:avLst>
          </a:prstGeom>
          <a:solidFill>
            <a:srgbClr val="83792E"/>
          </a:solidFill>
          <a:ln w="7620">
            <a:solidFill>
              <a:srgbClr val="9C92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35125" y="514390"/>
            <a:ext cx="170021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965224" y="904200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作物生长动画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965224" y="1149350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🌱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3阶段平滑切换（种子→幼苗→成熟）。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965224" y="1370449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⏰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时间驱动自动更新（TimeManager触发）。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965224" y="1619885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战斗动画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65224" y="1865035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⚔  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攻击挥剑动画。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965224" y="2086134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💥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受伤闪烁效果（无敌帧）。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65859" y="2307233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💀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怪物死亡消失动画。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9501862" y="450691"/>
            <a:ext cx="4536638" cy="340162"/>
          </a:xfrm>
          <a:prstGeom prst="roundRect">
            <a:avLst>
              <a:gd name="adj" fmla="val 480114"/>
            </a:avLst>
          </a:prstGeom>
          <a:solidFill>
            <a:srgbClr val="E8AF3B"/>
          </a:solidFill>
          <a:ln w="7620">
            <a:solidFill>
              <a:srgbClr val="CE952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85111" y="514390"/>
            <a:ext cx="170021" cy="21264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615210" y="904200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UI动画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615210" y="1149350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📂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背包打开/关闭淡入淡出。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9615210" y="1409938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📊 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技能进度条平滑增长。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615210" y="1659374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环境动画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615210" y="1904524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🌊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  水面瓦片。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615210" y="2125623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r>
              <a:rPr lang="en-US" sz="850" dirty="0">
                <a:solidFill>
                  <a:srgbClr val="000000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🌳  </a:t>
            </a: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 树木砍伐摇晃动画（TreeChopData）。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9615210" y="2346722"/>
            <a:ext cx="4309943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SzPct val="100000"/>
              <a:buNone/>
            </a:pP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01890" y="4583367"/>
            <a:ext cx="13836729" cy="21788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52" name="Text 50"/>
          <p:cNvSpPr/>
          <p:nvPr/>
        </p:nvSpPr>
        <p:spPr>
          <a:xfrm>
            <a:off x="201890" y="4665305"/>
            <a:ext cx="2268260" cy="283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不卡顿不崩溃</a:t>
            </a:r>
            <a:endParaRPr lang="en-US" sz="1750" dirty="0"/>
          </a:p>
        </p:txBody>
      </p:sp>
      <p:sp>
        <p:nvSpPr>
          <p:cNvPr id="54" name="Shape 52"/>
          <p:cNvSpPr/>
          <p:nvPr/>
        </p:nvSpPr>
        <p:spPr>
          <a:xfrm>
            <a:off x="201890" y="5117743"/>
            <a:ext cx="6861691" cy="838676"/>
          </a:xfrm>
          <a:prstGeom prst="roundRect">
            <a:avLst>
              <a:gd name="adj" fmla="val 8722"/>
            </a:avLst>
          </a:prstGeom>
          <a:solidFill>
            <a:srgbClr val="F6EBD4"/>
          </a:solidFill>
        </p:spPr>
      </p:sp>
      <p:sp>
        <p:nvSpPr>
          <p:cNvPr id="55" name="Shape 53"/>
          <p:cNvSpPr/>
          <p:nvPr/>
        </p:nvSpPr>
        <p:spPr>
          <a:xfrm>
            <a:off x="201890" y="5102503"/>
            <a:ext cx="6861691" cy="60960"/>
          </a:xfrm>
          <a:prstGeom prst="roundRect">
            <a:avLst>
              <a:gd name="adj" fmla="val 279071"/>
            </a:avLst>
          </a:prstGeom>
          <a:solidFill>
            <a:srgbClr val="626C3B"/>
          </a:solidFill>
        </p:spPr>
      </p:sp>
      <p:sp>
        <p:nvSpPr>
          <p:cNvPr id="56" name="Shape 54"/>
          <p:cNvSpPr/>
          <p:nvPr/>
        </p:nvSpPr>
        <p:spPr>
          <a:xfrm>
            <a:off x="3462595" y="4947722"/>
            <a:ext cx="340162" cy="340162"/>
          </a:xfrm>
          <a:prstGeom prst="roundRect">
            <a:avLst>
              <a:gd name="adj" fmla="val 268813"/>
            </a:avLst>
          </a:prstGeom>
          <a:solidFill>
            <a:srgbClr val="626C3B"/>
          </a:solidFill>
        </p:spPr>
      </p:sp>
      <p:pic>
        <p:nvPicPr>
          <p:cNvPr id="57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64632" y="5049639"/>
            <a:ext cx="136088" cy="136088"/>
          </a:xfrm>
          <a:prstGeom prst="rect">
            <a:avLst/>
          </a:prstGeom>
        </p:spPr>
      </p:pic>
      <p:sp>
        <p:nvSpPr>
          <p:cNvPr id="58" name="Text 55"/>
          <p:cNvSpPr/>
          <p:nvPr/>
        </p:nvSpPr>
        <p:spPr>
          <a:xfrm>
            <a:off x="330478" y="5401231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稳定60 FPS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330478" y="5646380"/>
            <a:ext cx="660451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优化的更新循环和渲染机制，保证游戏帧率始终保持在流畅水平。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7176929" y="5117743"/>
            <a:ext cx="6861691" cy="838676"/>
          </a:xfrm>
          <a:prstGeom prst="roundRect">
            <a:avLst>
              <a:gd name="adj" fmla="val 8722"/>
            </a:avLst>
          </a:prstGeom>
          <a:solidFill>
            <a:srgbClr val="F6EBD4"/>
          </a:solidFill>
        </p:spPr>
      </p:sp>
      <p:sp>
        <p:nvSpPr>
          <p:cNvPr id="61" name="Shape 58"/>
          <p:cNvSpPr/>
          <p:nvPr/>
        </p:nvSpPr>
        <p:spPr>
          <a:xfrm>
            <a:off x="7176929" y="5102503"/>
            <a:ext cx="6861691" cy="60960"/>
          </a:xfrm>
          <a:prstGeom prst="roundRect">
            <a:avLst>
              <a:gd name="adj" fmla="val 279071"/>
            </a:avLst>
          </a:prstGeom>
          <a:solidFill>
            <a:srgbClr val="83792E"/>
          </a:solidFill>
        </p:spPr>
      </p:sp>
      <p:sp>
        <p:nvSpPr>
          <p:cNvPr id="62" name="Shape 59"/>
          <p:cNvSpPr/>
          <p:nvPr/>
        </p:nvSpPr>
        <p:spPr>
          <a:xfrm>
            <a:off x="10437634" y="4947722"/>
            <a:ext cx="340162" cy="340162"/>
          </a:xfrm>
          <a:prstGeom prst="roundRect">
            <a:avLst>
              <a:gd name="adj" fmla="val 268813"/>
            </a:avLst>
          </a:prstGeom>
          <a:solidFill>
            <a:srgbClr val="83792E"/>
          </a:solidFill>
        </p:spPr>
      </p:sp>
      <p:pic>
        <p:nvPicPr>
          <p:cNvPr id="63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39670" y="5049639"/>
            <a:ext cx="136088" cy="136088"/>
          </a:xfrm>
          <a:prstGeom prst="rect">
            <a:avLst/>
          </a:prstGeom>
        </p:spPr>
      </p:pic>
      <p:sp>
        <p:nvSpPr>
          <p:cNvPr id="64" name="Text 60"/>
          <p:cNvSpPr/>
          <p:nvPr/>
        </p:nvSpPr>
        <p:spPr>
          <a:xfrm>
            <a:off x="7305516" y="5401231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场景切换流畅</a:t>
            </a:r>
            <a:endParaRPr lang="en-US" sz="1100" dirty="0"/>
          </a:p>
        </p:txBody>
      </p:sp>
      <p:sp>
        <p:nvSpPr>
          <p:cNvPr id="65" name="Text 61"/>
          <p:cNvSpPr/>
          <p:nvPr/>
        </p:nvSpPr>
        <p:spPr>
          <a:xfrm>
            <a:off x="7305516" y="5646380"/>
            <a:ext cx="660451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无加载卡顿，玩家可以在不同场景间无缝切换，保持游戏连贯性。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201890" y="6239788"/>
            <a:ext cx="6861691" cy="838676"/>
          </a:xfrm>
          <a:prstGeom prst="roundRect">
            <a:avLst>
              <a:gd name="adj" fmla="val 8722"/>
            </a:avLst>
          </a:prstGeom>
          <a:solidFill>
            <a:srgbClr val="F6EBD4"/>
          </a:solidFill>
        </p:spPr>
      </p:sp>
      <p:sp>
        <p:nvSpPr>
          <p:cNvPr id="67" name="Shape 63"/>
          <p:cNvSpPr/>
          <p:nvPr/>
        </p:nvSpPr>
        <p:spPr>
          <a:xfrm>
            <a:off x="201890" y="6224548"/>
            <a:ext cx="6861691" cy="60960"/>
          </a:xfrm>
          <a:prstGeom prst="roundRect">
            <a:avLst>
              <a:gd name="adj" fmla="val 279071"/>
            </a:avLst>
          </a:prstGeom>
          <a:solidFill>
            <a:srgbClr val="E8AF3B"/>
          </a:solidFill>
        </p:spPr>
      </p:sp>
      <p:sp>
        <p:nvSpPr>
          <p:cNvPr id="68" name="Shape 64"/>
          <p:cNvSpPr/>
          <p:nvPr/>
        </p:nvSpPr>
        <p:spPr>
          <a:xfrm>
            <a:off x="3462595" y="6069767"/>
            <a:ext cx="340162" cy="340162"/>
          </a:xfrm>
          <a:prstGeom prst="roundRect">
            <a:avLst>
              <a:gd name="adj" fmla="val 268813"/>
            </a:avLst>
          </a:prstGeom>
          <a:solidFill>
            <a:srgbClr val="E8AF3B"/>
          </a:solidFill>
        </p:spPr>
      </p:sp>
      <p:pic>
        <p:nvPicPr>
          <p:cNvPr id="69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64632" y="6171684"/>
            <a:ext cx="136088" cy="136088"/>
          </a:xfrm>
          <a:prstGeom prst="rect">
            <a:avLst/>
          </a:prstGeom>
        </p:spPr>
      </p:pic>
      <p:sp>
        <p:nvSpPr>
          <p:cNvPr id="70" name="Text 65"/>
          <p:cNvSpPr/>
          <p:nvPr/>
        </p:nvSpPr>
        <p:spPr>
          <a:xfrm>
            <a:off x="330478" y="6523276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背包操作即时响应</a:t>
            </a:r>
            <a:endParaRPr lang="en-US" sz="1100" dirty="0"/>
          </a:p>
        </p:txBody>
      </p:sp>
      <p:sp>
        <p:nvSpPr>
          <p:cNvPr id="71" name="Text 66"/>
          <p:cNvSpPr/>
          <p:nvPr/>
        </p:nvSpPr>
        <p:spPr>
          <a:xfrm>
            <a:off x="330478" y="6768425"/>
            <a:ext cx="660451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背包开启、物品拖拽、使用等操作均无延迟，提升用户体验。</a:t>
            </a:r>
            <a:endParaRPr lang="en-US" sz="850" dirty="0"/>
          </a:p>
        </p:txBody>
      </p:sp>
      <p:sp>
        <p:nvSpPr>
          <p:cNvPr id="72" name="Shape 67"/>
          <p:cNvSpPr/>
          <p:nvPr/>
        </p:nvSpPr>
        <p:spPr>
          <a:xfrm>
            <a:off x="7176929" y="6239788"/>
            <a:ext cx="6861691" cy="838676"/>
          </a:xfrm>
          <a:prstGeom prst="roundRect">
            <a:avLst>
              <a:gd name="adj" fmla="val 8722"/>
            </a:avLst>
          </a:prstGeom>
          <a:solidFill>
            <a:srgbClr val="F6EBD4"/>
          </a:solidFill>
        </p:spPr>
      </p:sp>
      <p:sp>
        <p:nvSpPr>
          <p:cNvPr id="73" name="Shape 68"/>
          <p:cNvSpPr/>
          <p:nvPr/>
        </p:nvSpPr>
        <p:spPr>
          <a:xfrm>
            <a:off x="7176929" y="6224548"/>
            <a:ext cx="6861691" cy="60960"/>
          </a:xfrm>
          <a:prstGeom prst="roundRect">
            <a:avLst>
              <a:gd name="adj" fmla="val 279071"/>
            </a:avLst>
          </a:prstGeom>
          <a:solidFill>
            <a:srgbClr val="CC914D"/>
          </a:solidFill>
        </p:spPr>
      </p:sp>
      <p:sp>
        <p:nvSpPr>
          <p:cNvPr id="74" name="Shape 69"/>
          <p:cNvSpPr/>
          <p:nvPr/>
        </p:nvSpPr>
        <p:spPr>
          <a:xfrm>
            <a:off x="10437634" y="6069767"/>
            <a:ext cx="340162" cy="340162"/>
          </a:xfrm>
          <a:prstGeom prst="roundRect">
            <a:avLst>
              <a:gd name="adj" fmla="val 268813"/>
            </a:avLst>
          </a:prstGeom>
          <a:solidFill>
            <a:srgbClr val="CC914D"/>
          </a:solidFill>
        </p:spPr>
      </p:sp>
      <p:pic>
        <p:nvPicPr>
          <p:cNvPr id="75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39670" y="6171684"/>
            <a:ext cx="136088" cy="136088"/>
          </a:xfrm>
          <a:prstGeom prst="rect">
            <a:avLst/>
          </a:prstGeom>
        </p:spPr>
      </p:pic>
      <p:sp>
        <p:nvSpPr>
          <p:cNvPr id="76" name="Text 70"/>
          <p:cNvSpPr/>
          <p:nvPr/>
        </p:nvSpPr>
        <p:spPr>
          <a:xfrm>
            <a:off x="7305516" y="6523276"/>
            <a:ext cx="1417558" cy="17716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大地图无卡顿</a:t>
            </a:r>
            <a:endParaRPr lang="en-US" sz="1100" dirty="0"/>
          </a:p>
        </p:txBody>
      </p:sp>
      <p:sp>
        <p:nvSpPr>
          <p:cNvPr id="77" name="Text 71"/>
          <p:cNvSpPr/>
          <p:nvPr/>
        </p:nvSpPr>
        <p:spPr>
          <a:xfrm>
            <a:off x="7305516" y="6768425"/>
            <a:ext cx="6604516" cy="18145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利用TMX瓦片优化渲染技术，确保大地图探索时无卡顿现象。</a:t>
            </a:r>
            <a:endParaRPr lang="en-US" sz="85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9"/>
          <a:srcRect l="1561" t="9953" b="10420"/>
          <a:stretch>
            <a:fillRect/>
          </a:stretch>
        </p:blipFill>
        <p:spPr>
          <a:xfrm>
            <a:off x="12898120" y="7655560"/>
            <a:ext cx="1732280" cy="574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4583" y="320953"/>
            <a:ext cx="3390424" cy="42386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游戏功能与玩法展示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489823" y="854234"/>
            <a:ext cx="2712244" cy="33897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核心功能与系统实现</a:t>
            </a:r>
            <a:endParaRPr lang="en-US" sz="21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474583" y="1401643"/>
            <a:ext cx="13681234" cy="813673"/>
          </a:xfrm>
          <a:prstGeom prst="roundRect">
            <a:avLst>
              <a:gd name="adj" fmla="val 25001"/>
            </a:avLst>
          </a:prstGeom>
          <a:solidFill>
            <a:srgbClr val="F6EBD4"/>
          </a:solidFill>
          <a:ln w="15240">
            <a:solidFill>
              <a:srgbClr val="626C3B"/>
            </a:solidFill>
            <a:prstDash val="solid"/>
          </a:ln>
        </p:spPr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489823" y="1416883"/>
            <a:ext cx="542449" cy="783193"/>
          </a:xfrm>
          <a:prstGeom prst="roundRect">
            <a:avLst>
              <a:gd name="adj" fmla="val 34130"/>
            </a:avLst>
          </a:prstGeom>
          <a:solidFill>
            <a:srgbClr val="626C3B"/>
          </a:solidFill>
        </p:spPr>
      </p:sp>
      <p:pic>
        <p:nvPicPr>
          <p:cNvPr id="6" name="Image 0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5558" y="1706682"/>
            <a:ext cx="203359" cy="203359"/>
          </a:xfrm>
          <a:prstGeom prst="rect">
            <a:avLst/>
          </a:prstGeom>
        </p:spPr>
      </p:pic>
      <p:sp>
        <p:nvSpPr>
          <p:cNvPr id="7" name="Text 4"/>
          <p:cNvSpPr/>
          <p:nvPr>
            <p:custDataLst>
              <p:tags r:id="rId6"/>
            </p:custDataLst>
          </p:nvPr>
        </p:nvSpPr>
        <p:spPr>
          <a:xfrm>
            <a:off x="1167884" y="1552496"/>
            <a:ext cx="1695212" cy="21193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农场经营系统</a:t>
            </a:r>
            <a:endParaRPr lang="en-US" sz="1300" dirty="0"/>
          </a:p>
        </p:txBody>
      </p:sp>
      <p:sp>
        <p:nvSpPr>
          <p:cNvPr id="8" name="Text 5"/>
          <p:cNvSpPr/>
          <p:nvPr>
            <p:custDataLst>
              <p:tags r:id="rId7"/>
            </p:custDataLst>
          </p:nvPr>
        </p:nvSpPr>
        <p:spPr>
          <a:xfrm>
            <a:off x="1167884" y="1845747"/>
            <a:ext cx="12837081" cy="21693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体验完整的耕作、种植、浇水、收获循环。6种作物三阶段生长，时间驱动。独特的日夜与天气系统（晴、雨、雪），动态影响作物生长与物价。</a:t>
            </a:r>
            <a:endParaRPr lang="en-US" sz="1050" dirty="0"/>
          </a:p>
        </p:txBody>
      </p:sp>
      <p:sp>
        <p:nvSpPr>
          <p:cNvPr id="9" name="Shape 6"/>
          <p:cNvSpPr/>
          <p:nvPr>
            <p:custDataLst>
              <p:tags r:id="rId8"/>
            </p:custDataLst>
          </p:nvPr>
        </p:nvSpPr>
        <p:spPr>
          <a:xfrm>
            <a:off x="474583" y="2350929"/>
            <a:ext cx="13681234" cy="813673"/>
          </a:xfrm>
          <a:prstGeom prst="roundRect">
            <a:avLst>
              <a:gd name="adj" fmla="val 25001"/>
            </a:avLst>
          </a:prstGeom>
          <a:solidFill>
            <a:srgbClr val="F6EBD4"/>
          </a:solidFill>
          <a:ln w="15240">
            <a:solidFill>
              <a:srgbClr val="83792E"/>
            </a:solidFill>
            <a:prstDash val="solid"/>
          </a:ln>
        </p:spPr>
      </p:sp>
      <p:sp>
        <p:nvSpPr>
          <p:cNvPr id="10" name="Shape 7"/>
          <p:cNvSpPr/>
          <p:nvPr>
            <p:custDataLst>
              <p:tags r:id="rId9"/>
            </p:custDataLst>
          </p:nvPr>
        </p:nvSpPr>
        <p:spPr>
          <a:xfrm>
            <a:off x="489823" y="2366169"/>
            <a:ext cx="542449" cy="783193"/>
          </a:xfrm>
          <a:prstGeom prst="roundRect">
            <a:avLst>
              <a:gd name="adj" fmla="val 34130"/>
            </a:avLst>
          </a:prstGeom>
          <a:solidFill>
            <a:srgbClr val="83792E"/>
          </a:solidFill>
        </p:spPr>
      </p:sp>
      <p:pic>
        <p:nvPicPr>
          <p:cNvPr id="11" name="Image 1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5558" y="2655967"/>
            <a:ext cx="203359" cy="203359"/>
          </a:xfrm>
          <a:prstGeom prst="rect">
            <a:avLst/>
          </a:prstGeom>
        </p:spPr>
      </p:pic>
      <p:sp>
        <p:nvSpPr>
          <p:cNvPr id="12" name="Text 8"/>
          <p:cNvSpPr/>
          <p:nvPr>
            <p:custDataLst>
              <p:tags r:id="rId13"/>
            </p:custDataLst>
          </p:nvPr>
        </p:nvSpPr>
        <p:spPr>
          <a:xfrm>
            <a:off x="1167884" y="2501781"/>
            <a:ext cx="1695212" cy="21193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探险与战斗系统</a:t>
            </a:r>
            <a:endParaRPr lang="en-US" sz="1300" dirty="0"/>
          </a:p>
        </p:txBody>
      </p:sp>
      <p:sp>
        <p:nvSpPr>
          <p:cNvPr id="13" name="Text 9"/>
          <p:cNvSpPr/>
          <p:nvPr>
            <p:custDataLst>
              <p:tags r:id="rId14"/>
            </p:custDataLst>
          </p:nvPr>
        </p:nvSpPr>
        <p:spPr>
          <a:xfrm>
            <a:off x="1167884" y="2795032"/>
            <a:ext cx="12837081" cy="21693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深入5层矿洞，挑战史莱姆和僵尸等怪物，使用4种武器进行战斗，并有受伤闪烁和击退效果。挖掘5种矿石，发现随机宝箱，甚至在许愿池获得惊喜。海滩钓鱼小游戏提供9种鱼类，受时间、天气和水域影响。</a:t>
            </a:r>
            <a:endParaRPr lang="en-US" sz="1050" dirty="0"/>
          </a:p>
        </p:txBody>
      </p:sp>
      <p:sp>
        <p:nvSpPr>
          <p:cNvPr id="14" name="Shape 10"/>
          <p:cNvSpPr/>
          <p:nvPr>
            <p:custDataLst>
              <p:tags r:id="rId15"/>
            </p:custDataLst>
          </p:nvPr>
        </p:nvSpPr>
        <p:spPr>
          <a:xfrm>
            <a:off x="474583" y="3300214"/>
            <a:ext cx="13681234" cy="813673"/>
          </a:xfrm>
          <a:prstGeom prst="roundRect">
            <a:avLst>
              <a:gd name="adj" fmla="val 25001"/>
            </a:avLst>
          </a:prstGeom>
          <a:solidFill>
            <a:srgbClr val="F6EBD4"/>
          </a:solidFill>
          <a:ln w="15240">
            <a:solidFill>
              <a:srgbClr val="E8AF3B"/>
            </a:solidFill>
            <a:prstDash val="solid"/>
          </a:ln>
        </p:spPr>
      </p:sp>
      <p:sp>
        <p:nvSpPr>
          <p:cNvPr id="15" name="Shape 11"/>
          <p:cNvSpPr/>
          <p:nvPr>
            <p:custDataLst>
              <p:tags r:id="rId16"/>
            </p:custDataLst>
          </p:nvPr>
        </p:nvSpPr>
        <p:spPr>
          <a:xfrm>
            <a:off x="489823" y="3315454"/>
            <a:ext cx="542449" cy="783193"/>
          </a:xfrm>
          <a:prstGeom prst="roundRect">
            <a:avLst>
              <a:gd name="adj" fmla="val 34130"/>
            </a:avLst>
          </a:prstGeom>
          <a:solidFill>
            <a:srgbClr val="E8AF3B"/>
          </a:solidFill>
        </p:spPr>
      </p:sp>
      <p:pic>
        <p:nvPicPr>
          <p:cNvPr id="16" name="Image 2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5558" y="3605252"/>
            <a:ext cx="203359" cy="203359"/>
          </a:xfrm>
          <a:prstGeom prst="rect">
            <a:avLst/>
          </a:prstGeom>
        </p:spPr>
      </p:pic>
      <p:sp>
        <p:nvSpPr>
          <p:cNvPr id="17" name="Text 12"/>
          <p:cNvSpPr/>
          <p:nvPr>
            <p:custDataLst>
              <p:tags r:id="rId20"/>
            </p:custDataLst>
          </p:nvPr>
        </p:nvSpPr>
        <p:spPr>
          <a:xfrm>
            <a:off x="1167884" y="3451066"/>
            <a:ext cx="1695212" cy="21193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经济与社交系统</a:t>
            </a:r>
            <a:endParaRPr lang="en-US" sz="1300" dirty="0"/>
          </a:p>
        </p:txBody>
      </p:sp>
      <p:sp>
        <p:nvSpPr>
          <p:cNvPr id="18" name="Text 13"/>
          <p:cNvSpPr/>
          <p:nvPr>
            <p:custDataLst>
              <p:tags r:id="rId21"/>
            </p:custDataLst>
          </p:nvPr>
        </p:nvSpPr>
        <p:spPr>
          <a:xfrm>
            <a:off x="1167884" y="3744317"/>
            <a:ext cx="12837081" cy="21693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通过买卖作物与矿石积累金币。与商人NPC进行交易（含动态定价），铁匠提供工具修理和武器升级。丰富的NPC对话系统和交互状态机。强大的背包（30格）与可放置的储物箱（32格）方便物品管理。</a:t>
            </a:r>
            <a:endParaRPr lang="en-US" sz="1050" dirty="0"/>
          </a:p>
        </p:txBody>
      </p:sp>
      <p:sp>
        <p:nvSpPr>
          <p:cNvPr id="19" name="Shape 14"/>
          <p:cNvSpPr/>
          <p:nvPr>
            <p:custDataLst>
              <p:tags r:id="rId22"/>
            </p:custDataLst>
          </p:nvPr>
        </p:nvSpPr>
        <p:spPr>
          <a:xfrm>
            <a:off x="474583" y="4249499"/>
            <a:ext cx="13681234" cy="813673"/>
          </a:xfrm>
          <a:prstGeom prst="roundRect">
            <a:avLst>
              <a:gd name="adj" fmla="val 25001"/>
            </a:avLst>
          </a:prstGeom>
          <a:solidFill>
            <a:srgbClr val="F6EBD4"/>
          </a:solidFill>
          <a:ln w="15240">
            <a:solidFill>
              <a:srgbClr val="CC914D"/>
            </a:solidFill>
            <a:prstDash val="solid"/>
          </a:ln>
        </p:spPr>
      </p:sp>
      <p:sp>
        <p:nvSpPr>
          <p:cNvPr id="20" name="Shape 15"/>
          <p:cNvSpPr/>
          <p:nvPr>
            <p:custDataLst>
              <p:tags r:id="rId23"/>
            </p:custDataLst>
          </p:nvPr>
        </p:nvSpPr>
        <p:spPr>
          <a:xfrm>
            <a:off x="489823" y="4264739"/>
            <a:ext cx="542449" cy="783193"/>
          </a:xfrm>
          <a:prstGeom prst="roundRect">
            <a:avLst>
              <a:gd name="adj" fmla="val 34130"/>
            </a:avLst>
          </a:prstGeom>
          <a:solidFill>
            <a:srgbClr val="CC914D"/>
          </a:solidFill>
        </p:spPr>
      </p:sp>
      <p:pic>
        <p:nvPicPr>
          <p:cNvPr id="21" name="Image 3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55558" y="4554538"/>
            <a:ext cx="203359" cy="203359"/>
          </a:xfrm>
          <a:prstGeom prst="rect">
            <a:avLst/>
          </a:prstGeom>
        </p:spPr>
      </p:pic>
      <p:sp>
        <p:nvSpPr>
          <p:cNvPr id="22" name="Text 16"/>
          <p:cNvSpPr/>
          <p:nvPr>
            <p:custDataLst>
              <p:tags r:id="rId27"/>
            </p:custDataLst>
          </p:nvPr>
        </p:nvSpPr>
        <p:spPr>
          <a:xfrm>
            <a:off x="1167884" y="4400352"/>
            <a:ext cx="1695212" cy="21193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技能成长系统</a:t>
            </a:r>
            <a:endParaRPr lang="en-US" sz="1300" dirty="0"/>
          </a:p>
        </p:txBody>
      </p:sp>
      <p:sp>
        <p:nvSpPr>
          <p:cNvPr id="23" name="Text 17"/>
          <p:cNvSpPr/>
          <p:nvPr>
            <p:custDataLst>
              <p:tags r:id="rId28"/>
            </p:custDataLst>
          </p:nvPr>
        </p:nvSpPr>
        <p:spPr>
          <a:xfrm>
            <a:off x="1167884" y="4693603"/>
            <a:ext cx="12837081" cy="21693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四大技能（农业、采矿、钓鱼、烹饪）伴随玩家行动而增长。每级（1-5级）提升带来不同收益，如额外产出、体力消耗减少、鱼类价格提升等。通过技能树UI清晰展示成长进度。</a:t>
            </a:r>
            <a:endParaRPr lang="en-US" sz="1050" dirty="0"/>
          </a:p>
        </p:txBody>
      </p:sp>
      <p:sp>
        <p:nvSpPr>
          <p:cNvPr id="24" name="Shape 18"/>
          <p:cNvSpPr/>
          <p:nvPr>
            <p:custDataLst>
              <p:tags r:id="rId29"/>
            </p:custDataLst>
          </p:nvPr>
        </p:nvSpPr>
        <p:spPr>
          <a:xfrm>
            <a:off x="474583" y="5198785"/>
            <a:ext cx="13681234" cy="813673"/>
          </a:xfrm>
          <a:prstGeom prst="roundRect">
            <a:avLst>
              <a:gd name="adj" fmla="val 25001"/>
            </a:avLst>
          </a:prstGeom>
          <a:solidFill>
            <a:srgbClr val="F6EBD4"/>
          </a:solidFill>
          <a:ln w="15240">
            <a:solidFill>
              <a:srgbClr val="626C3B"/>
            </a:solidFill>
            <a:prstDash val="solid"/>
          </a:ln>
        </p:spPr>
      </p:sp>
      <p:sp>
        <p:nvSpPr>
          <p:cNvPr id="25" name="Shape 19"/>
          <p:cNvSpPr/>
          <p:nvPr>
            <p:custDataLst>
              <p:tags r:id="rId30"/>
            </p:custDataLst>
          </p:nvPr>
        </p:nvSpPr>
        <p:spPr>
          <a:xfrm>
            <a:off x="489823" y="5214025"/>
            <a:ext cx="542449" cy="783193"/>
          </a:xfrm>
          <a:prstGeom prst="roundRect">
            <a:avLst>
              <a:gd name="adj" fmla="val 34130"/>
            </a:avLst>
          </a:prstGeom>
          <a:solidFill>
            <a:srgbClr val="626C3B"/>
          </a:solidFill>
        </p:spPr>
      </p:sp>
      <p:pic>
        <p:nvPicPr>
          <p:cNvPr id="26" name="Image 4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55558" y="5503823"/>
            <a:ext cx="203359" cy="203359"/>
          </a:xfrm>
          <a:prstGeom prst="rect">
            <a:avLst/>
          </a:prstGeom>
        </p:spPr>
      </p:pic>
      <p:sp>
        <p:nvSpPr>
          <p:cNvPr id="27" name="Text 20"/>
          <p:cNvSpPr/>
          <p:nvPr>
            <p:custDataLst>
              <p:tags r:id="rId34"/>
            </p:custDataLst>
          </p:nvPr>
        </p:nvSpPr>
        <p:spPr>
          <a:xfrm>
            <a:off x="1167884" y="5349637"/>
            <a:ext cx="1695212" cy="21193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生存与能量系统</a:t>
            </a:r>
            <a:endParaRPr lang="en-US" sz="1300" dirty="0"/>
          </a:p>
        </p:txBody>
      </p:sp>
      <p:sp>
        <p:nvSpPr>
          <p:cNvPr id="28" name="Text 21"/>
          <p:cNvSpPr/>
          <p:nvPr>
            <p:custDataLst>
              <p:tags r:id="rId35"/>
            </p:custDataLst>
          </p:nvPr>
        </p:nvSpPr>
        <p:spPr>
          <a:xfrm>
            <a:off x="1167884" y="5642888"/>
            <a:ext cx="12837081" cy="21693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工作、战斗、挖矿均消耗能量，通过进食和睡觉恢复。能量低于20%进入疲惫状态，影响移动速度和行动。完善的HP系统，受伤扣血，矿洞死亡将受到物品与金币惩罚。</a:t>
            </a:r>
            <a:endParaRPr lang="en-US" sz="1050" dirty="0"/>
          </a:p>
        </p:txBody>
      </p:sp>
      <p:sp>
        <p:nvSpPr>
          <p:cNvPr id="29" name="Shape 22"/>
          <p:cNvSpPr/>
          <p:nvPr>
            <p:custDataLst>
              <p:tags r:id="rId36"/>
            </p:custDataLst>
          </p:nvPr>
        </p:nvSpPr>
        <p:spPr>
          <a:xfrm>
            <a:off x="474583" y="6148070"/>
            <a:ext cx="13681234" cy="813673"/>
          </a:xfrm>
          <a:prstGeom prst="roundRect">
            <a:avLst>
              <a:gd name="adj" fmla="val 25001"/>
            </a:avLst>
          </a:prstGeom>
          <a:solidFill>
            <a:srgbClr val="F6EBD4"/>
          </a:solidFill>
          <a:ln w="15240">
            <a:solidFill>
              <a:srgbClr val="83792E"/>
            </a:solidFill>
            <a:prstDash val="solid"/>
          </a:ln>
        </p:spPr>
      </p:sp>
      <p:sp>
        <p:nvSpPr>
          <p:cNvPr id="30" name="Shape 23"/>
          <p:cNvSpPr/>
          <p:nvPr>
            <p:custDataLst>
              <p:tags r:id="rId37"/>
            </p:custDataLst>
          </p:nvPr>
        </p:nvSpPr>
        <p:spPr>
          <a:xfrm>
            <a:off x="489823" y="6163310"/>
            <a:ext cx="542449" cy="783193"/>
          </a:xfrm>
          <a:prstGeom prst="roundRect">
            <a:avLst>
              <a:gd name="adj" fmla="val 34130"/>
            </a:avLst>
          </a:prstGeom>
          <a:solidFill>
            <a:srgbClr val="83792E"/>
          </a:solidFill>
        </p:spPr>
      </p:sp>
      <p:pic>
        <p:nvPicPr>
          <p:cNvPr id="31" name="Image 5" descr="preencoded.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655558" y="6453108"/>
            <a:ext cx="203359" cy="203359"/>
          </a:xfrm>
          <a:prstGeom prst="rect">
            <a:avLst/>
          </a:prstGeom>
        </p:spPr>
      </p:pic>
      <p:sp>
        <p:nvSpPr>
          <p:cNvPr id="32" name="Text 24"/>
          <p:cNvSpPr/>
          <p:nvPr>
            <p:custDataLst>
              <p:tags r:id="rId41"/>
            </p:custDataLst>
          </p:nvPr>
        </p:nvSpPr>
        <p:spPr>
          <a:xfrm>
            <a:off x="1167884" y="6298922"/>
            <a:ext cx="1695212" cy="21193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场景与存档系统</a:t>
            </a:r>
            <a:endParaRPr lang="en-US" sz="1300" dirty="0"/>
          </a:p>
        </p:txBody>
      </p:sp>
      <p:sp>
        <p:nvSpPr>
          <p:cNvPr id="33" name="Text 25"/>
          <p:cNvSpPr/>
          <p:nvPr>
            <p:custDataLst>
              <p:tags r:id="rId42"/>
            </p:custDataLst>
          </p:nvPr>
        </p:nvSpPr>
        <p:spPr>
          <a:xfrm>
            <a:off x="1167884" y="6592173"/>
            <a:ext cx="12837081" cy="21693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包含农场、矿洞、海滩、房屋、谷仓5个独立场景，通过传送门和电梯无缝切换。完整的JSON序列化存档系统，自动保存玩家位置、状态、背包、农田、储物箱、技能和时间，确保游戏进度不丢失。</a:t>
            </a:r>
            <a:endParaRPr lang="en-US" sz="1050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43"/>
          <a:srcRect l="1561" t="9953" b="10420"/>
          <a:stretch>
            <a:fillRect/>
          </a:stretch>
        </p:blipFill>
        <p:spPr>
          <a:xfrm>
            <a:off x="12898120" y="7655560"/>
            <a:ext cx="1732280" cy="574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2337" y="609362"/>
            <a:ext cx="6884670" cy="5378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丰富的动画系统：生动演绎游戏世界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16942" y="1215787"/>
            <a:ext cx="13425726" cy="27539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《星露谷物语》项目精心打造了一个多维度的动画系统，涵盖角色、环境及界面，旨在为玩家带来沉浸且充满活力的游戏体验。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16942" y="1753643"/>
            <a:ext cx="13425726" cy="29051"/>
          </a:xfrm>
          <a:prstGeom prst="rect">
            <a:avLst/>
          </a:prstGeom>
          <a:solidFill>
            <a:srgbClr val="403011">
              <a:alpha val="50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616942" y="2046049"/>
            <a:ext cx="2151578" cy="26884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角色动态与交互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6942" y="2486938"/>
            <a:ext cx="4149209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移动动画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8帧平滑行走，支持四方向。方向切换流畅，停止时自动播放IDLE帧。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16942" y="3373239"/>
            <a:ext cx="4149209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工具使用动画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四种工具（锄头、斧头、喷壶、镐）在四个方向上的专属动画，如挥动锄头开垦、斧头砍树等。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16942" y="4259540"/>
            <a:ext cx="4149209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钓鱼动画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三阶段钓鱼（抛竿、等待、收杆）在四个方向上的独特动画。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16942" y="5145842"/>
            <a:ext cx="4149209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战斗与受伤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攻击挥剑、受伤闪烁（无敌帧）、击退效果，怪物（史莱姆、僵尸）也有各自的生动动画。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193586" y="2046049"/>
            <a:ext cx="2151578" cy="26884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环境演变与天气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93586" y="2486938"/>
            <a:ext cx="4287560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作物生长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6种作物各有4个生长阶段，共24张独立贴图，每日自动更新，实现平滑过渡。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93586" y="3373239"/>
            <a:ext cx="4287560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天气粒子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雨滴和雪花粒子系统，动态模拟雨雪天气，增强氛围感。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193586" y="4083010"/>
            <a:ext cx="4287560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日夜光照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日夜循环通过光照颜色渐变呈现，模拟早晨、中午、傍晚、夜晚的真实变化。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908580" y="2046049"/>
            <a:ext cx="2151578" cy="26884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03011"/>
                </a:solidFill>
                <a:latin typeface="Brygada 1918 Semi Bold" pitchFamily="34" charset="0"/>
                <a:ea typeface="Brygada 1918 Semi Bold" pitchFamily="34" charset="-122"/>
                <a:cs typeface="Brygada 1918 Semi Bold" pitchFamily="34" charset="-120"/>
              </a:rPr>
              <a:t>界面反馈与特殊效果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908580" y="2462808"/>
            <a:ext cx="4149209" cy="110156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UI动画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背包开合淡入淡出、对话框缩放弹出、物品拖拽实时跟随、按钮悬停反馈、技能升级进度条平滑增长。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908580" y="3373041"/>
            <a:ext cx="4149209" cy="8261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场景切换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传送门（淡出旧场景，淡入新场景）和电梯（平滑过渡）动画，实现无缝连接。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908580" y="4259342"/>
            <a:ext cx="4149209" cy="110156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SzPct val="100000"/>
              <a:buNone/>
            </a:pPr>
            <a:r>
              <a:rPr lang="en-US" sz="1350" b="1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其他特效</a:t>
            </a: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：</a:t>
            </a:r>
            <a:endParaRPr lang="en-US" sz="1350" dirty="0"/>
          </a:p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403011"/>
                </a:solidFill>
                <a:latin typeface="Brygada 1918" pitchFamily="34" charset="0"/>
                <a:ea typeface="Brygada 1918" pitchFamily="34" charset="-122"/>
                <a:cs typeface="Brygada 1918" pitchFamily="34" charset="-120"/>
              </a:rPr>
              <a:t>砍树时的树木摇晃与倒下、木材飞出，宝箱开盖，金币抛物线飞入，矿石采集粒子，能量条和工具耐久度更新动画。</a:t>
            </a:r>
            <a:endParaRPr lang="en-US" sz="1350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rcRect l="1561" t="9953" b="10420"/>
          <a:stretch>
            <a:fillRect/>
          </a:stretch>
        </p:blipFill>
        <p:spPr>
          <a:xfrm>
            <a:off x="12898120" y="7655560"/>
            <a:ext cx="1732280" cy="57404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2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3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4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5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6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7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8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9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10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11.xml><?xml version="1.0" encoding="utf-8"?>
<p:tagLst xmlns:p="http://schemas.openxmlformats.org/presentationml/2006/main">
  <p:tag name="KSO_WM_DIAGRAM_VIRTUALLY_FRAME" val="{&quot;height&quot;:682.2937007874016,&quot;left&quot;:13.796850393700788,&quot;top&quot;:55.5,&quot;width&quot;:1107.3968503937008}"/>
</p:tagLst>
</file>

<file path=ppt/tags/tag12.xml><?xml version="1.0" encoding="utf-8"?>
<p:tagLst xmlns:p="http://schemas.openxmlformats.org/presentationml/2006/main">
  <p:tag name="KSO_WM_DIAGRAM_VIRTUALLY_FRAME" val="{&quot;height&quot;:332.1468503937008,&quot;left&quot;:30.74685039370079,&quot;top&quot;:24.55314960629921,&quot;width&quot;:1090.0062204724406}"/>
</p:tagLst>
</file>

<file path=ppt/tags/tag13.xml><?xml version="1.0" encoding="utf-8"?>
<p:tagLst xmlns:p="http://schemas.openxmlformats.org/presentationml/2006/main">
  <p:tag name="KSO_WM_DIAGRAM_VIRTUALLY_FRAME" val="{&quot;height&quot;:332.1468503937008,&quot;left&quot;:30.74685039370079,&quot;top&quot;:24.55314960629921,&quot;width&quot;:1090.0062204724406}"/>
</p:tagLst>
</file>

<file path=ppt/tags/tag14.xml><?xml version="1.0" encoding="utf-8"?>
<p:tagLst xmlns:p="http://schemas.openxmlformats.org/presentationml/2006/main">
  <p:tag name="KSO_WM_DIAGRAM_VIRTUALLY_FRAME" val="{&quot;height&quot;:332.1468503937008,&quot;left&quot;:30.74685039370079,&quot;top&quot;:24.55314960629921,&quot;width&quot;:1090.0062204724406}"/>
</p:tagLst>
</file>

<file path=ppt/tags/tag15.xml><?xml version="1.0" encoding="utf-8"?>
<p:tagLst xmlns:p="http://schemas.openxmlformats.org/presentationml/2006/main">
  <p:tag name="KSO_WM_DIAGRAM_VIRTUALLY_FRAME" val="{&quot;height&quot;:332.1468503937008,&quot;left&quot;:30.74685039370079,&quot;top&quot;:24.55314960629921,&quot;width&quot;:1090.0062204724406}"/>
</p:tagLst>
</file>

<file path=ppt/tags/tag16.xml><?xml version="1.0" encoding="utf-8"?>
<p:tagLst xmlns:p="http://schemas.openxmlformats.org/presentationml/2006/main">
  <p:tag name="KSO_WM_DIAGRAM_VIRTUALLY_FRAME" val="{&quot;height&quot;:332.1468503937008,&quot;left&quot;:30.74685039370079,&quot;top&quot;:24.55314960629921,&quot;width&quot;:1090.0062204724406}"/>
</p:tagLst>
</file>

<file path=ppt/tags/tag17.xml><?xml version="1.0" encoding="utf-8"?>
<p:tagLst xmlns:p="http://schemas.openxmlformats.org/presentationml/2006/main">
  <p:tag name="KSO_WM_DIAGRAM_VIRTUALLY_FRAME" val="{&quot;height&quot;:332.1468503937008,&quot;left&quot;:30.74685039370079,&quot;top&quot;:24.55314960629921,&quot;width&quot;:1090.0062204724406}"/>
</p:tagLst>
</file>

<file path=ppt/tags/tag18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19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0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1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2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3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4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5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6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7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8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29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0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1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2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3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4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5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6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7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8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39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0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1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2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3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4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5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6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ags/tag47.xml><?xml version="1.0" encoding="utf-8"?>
<p:tagLst xmlns:p="http://schemas.openxmlformats.org/presentationml/2006/main">
  <p:tag name="KSO_WM_DIAGRAM_VIRTUALLY_FRAME" val="{&quot;height&quot;:472.7031496062993,&quot;left&quot;:37.36874015748031,&quot;top&quot;:110.3655905511811,&quot;width&quot;:1077.262519685039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11339</Words>
  <Application>WPS 演示</Application>
  <PresentationFormat>On-screen Show (16:9)</PresentationFormat>
  <Paragraphs>552</Paragraphs>
  <Slides>15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36" baseType="lpstr">
      <vt:lpstr>Arial</vt:lpstr>
      <vt:lpstr>宋体</vt:lpstr>
      <vt:lpstr>Wingdings</vt:lpstr>
      <vt:lpstr>Arial</vt:lpstr>
      <vt:lpstr>Times New Roman</vt:lpstr>
      <vt:lpstr>黑体</vt:lpstr>
      <vt:lpstr>Brygada 1918 Semi Bold</vt:lpstr>
      <vt:lpstr>Brygada 1918 Semi Bold</vt:lpstr>
      <vt:lpstr>Brygada 1918 Semi Bold</vt:lpstr>
      <vt:lpstr>Consolas</vt:lpstr>
      <vt:lpstr>Consolas</vt:lpstr>
      <vt:lpstr>Consolas</vt:lpstr>
      <vt:lpstr>Brygada 1918</vt:lpstr>
      <vt:lpstr>Brygada 1918</vt:lpstr>
      <vt:lpstr>Brygada 1918</vt:lpstr>
      <vt:lpstr>微软雅黑</vt:lpstr>
      <vt:lpstr>Arial Unicode MS</vt:lpstr>
      <vt:lpstr>Calibri</vt:lpstr>
      <vt:lpstr>等线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。</cp:lastModifiedBy>
  <cp:revision>13</cp:revision>
  <dcterms:created xsi:type="dcterms:W3CDTF">2025-12-30T07:53:00Z</dcterms:created>
  <dcterms:modified xsi:type="dcterms:W3CDTF">2025-12-30T16:12:08Z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6A4309BB009447189FAE5572F573010F_13</vt:lpwstr>
  </property>
  <property fmtid="{D5CDD505-2E9C-101B-9397-08002B2CF9AE}" pid="3" name="KSOProductBuildVer">
    <vt:lpwstr>2052-12.1.0.24657</vt:lpwstr>
  </property>
</Properties>
</file>